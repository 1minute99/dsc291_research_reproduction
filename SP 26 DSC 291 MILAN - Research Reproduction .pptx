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45s. Earlier methods need a concept list up front; MILAN learns captions from 60k human annotations and produces free-form descriptions, which become actionable handles for editing.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Top row clean, middle row training set with class-name overlay, bottom row adversarial (wrong-class) overlay. Reading the text instead of the object is the failure mode.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Tie back to the course: this single experiment exercises spurious correlations, adversarial robustness, and interpretability-driven editing.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60s. Walk the family tree. Common thread: prior work needs a concept list; MILAN's vocabulary is whatever appears in 60k human neuron captions.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Position MILAN as the open-vocab successor; foreshadow the PMI objective and the regex-filter limitation.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pipeline: exemplars -&gt; image-conditioned LM -&gt; caption. Trained on 60k human exemplar captions.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PMI = log p(d|exemplars) - log p(d). The prior term kills generic captions; specificity is what makes the text neurons identifiable downstream.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self-contained editing loop. Steps 1-5 form the experiment; we extend step 1 to VGG16/CLIP and add a per-layer analysis at step 4.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Dataset substitution noted. 10% overlay is the canonical setting (it gives the cleanest editing separation; see speaker notes on the reproduction slides).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Baselines for the ablation curve: sort-all (importance-ordered) and random (5 trials). Everything except the dataset base follows the paper.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 7 from the paper. MILAN's caption pinpoints the shortcut-bearing neuron in plain English.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 8 from the paper — the headline editing result we set out to reproduce.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Headline comparison. Trends match; magnitudes differ because of the dataset substitution.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Our reproduction of Fig 7. Captions like 'words'/'letters'; the overlaid words are what the neurons respond to.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Our Fig 8 at 10% overlay. Text-sorted is the only curve that stays above the no-ablation line.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Left: per-architecture ablation curves (solid=text-sorted, dashed=sort-all). Right: text-neuron fraction across architectures. VGG16 relies on the shortcut more, but the edit still works.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shortcut crystallizes very early (layer1). Two panels: text-neuron fraction (left) and caption diversity (right) by depth.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CLIP zero-shot: far fewer text neurons, and they describe objects not text. Quantitative evidence that vision-language pretraining resists the shortcut.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Headline takeaways at 10% overlay, with the summary table of all four experiments.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Honest take. Biggest like: escapes the concept-vocabulary bottleneck. Biggest dislike: the regex filter.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Structural strength: PMI. Structural weakness: inherits the caption corpus's blind spots.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last bullet is our empirical contribution: editing needs an identifiable (sparse) shortcut. Addressed-in-literature: embedding-based concept detection is an active area.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Embedding filter is the lowest-hanging fruit; activation-steering connects to recent mech-interp work.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1700" y="369600"/>
            <a:ext cx="1801751" cy="33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>
                <a:solidFill>
                  <a:schemeClr val="dk2"/>
                </a:solidFill>
              </a:defRPr>
            </a:lvl1pPr>
            <a:lvl2pPr lvl="1" algn="r">
              <a:buNone/>
              <a:defRPr>
                <a:solidFill>
                  <a:schemeClr val="dk2"/>
                </a:solidFill>
              </a:defRPr>
            </a:lvl2pPr>
            <a:lvl3pPr lvl="2" algn="r">
              <a:buNone/>
              <a:defRPr>
                <a:solidFill>
                  <a:schemeClr val="dk2"/>
                </a:solidFill>
              </a:defRPr>
            </a:lvl3pPr>
            <a:lvl4pPr lvl="3" algn="r">
              <a:buNone/>
              <a:defRPr>
                <a:solidFill>
                  <a:schemeClr val="dk2"/>
                </a:solidFill>
              </a:defRPr>
            </a:lvl4pPr>
            <a:lvl5pPr lvl="4" algn="r">
              <a:buNone/>
              <a:defRPr>
                <a:solidFill>
                  <a:schemeClr val="dk2"/>
                </a:solidFill>
              </a:defRPr>
            </a:lvl5pPr>
            <a:lvl6pPr lvl="5" algn="r">
              <a:buNone/>
              <a:defRPr>
                <a:solidFill>
                  <a:schemeClr val="dk2"/>
                </a:solidFill>
              </a:defRPr>
            </a:lvl6pPr>
            <a:lvl7pPr lvl="6" algn="r">
              <a:buNone/>
              <a:defRPr>
                <a:solidFill>
                  <a:schemeClr val="dk2"/>
                </a:solidFill>
              </a:defRPr>
            </a:lvl7pPr>
            <a:lvl8pPr lvl="7" algn="r">
              <a:buNone/>
              <a:defRPr>
                <a:solidFill>
                  <a:schemeClr val="dk2"/>
                </a:solidFill>
              </a:defRPr>
            </a:lvl8pPr>
            <a:lvl9pPr lvl="8" algn="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0" y="4774200"/>
            <a:ext cx="440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DSC 291/190 SP’26 Trustworthy Machine Learning</a:t>
            </a:r>
            <a:endParaRPr sz="12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3600"/>
              <a:t>MILAN — Editing Spurious Features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rPr sz="1500"/>
              <a:t>Reproducing Hernandez et al. (ICLR 2022) — Natural Language Descriptions of Deep Visual Features</a:t>
            </a:r>
          </a:p>
          <a:p>
            <a:r>
              <a:rPr sz="1500"/>
              <a:t>+ extensions: VGG16 · ResNet18 layer-depth · CLIP ViT-B/32</a:t>
            </a:r>
          </a:p>
          <a:p>
            <a:r>
              <a:rPr sz="1500"/>
              <a:t>Group [#] · Wonmin Kim · Seongho Kim · Ming-Yang Wu · Steven Tsai · June 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3600"/>
              <a:t>Paper [A]: Natural Language Descriptions of Deep Visual Features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rPr sz="1500"/>
              <a:t>[A] Hernandez, Schwettmann, Bau, Bagashvili, Oliva, Andreas. ICLR 2022.</a:t>
            </a:r>
          </a:p>
          <a:p>
            <a:r>
              <a:rPr sz="1500"/>
              <a:t>arXiv:2201.11114 · project: milan.csail.mit.edu</a:t>
            </a:r>
          </a:p>
          <a:p>
            <a:r>
              <a:rPr sz="1500"/>
              <a:t>Focus: Section 7 — “Editing Spurious Features”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 1: Introduction &amp; Motivation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360000"/>
            <a:ext cx="8520600" cy="840000"/>
          </a:xfrm>
        </p:spPr>
        <p:txBody>
          <a:bodyPr wrap="square" anchor="t"/>
          <a:lstStyle/>
          <a:p>
            <a:r>
              <a:rPr sz="2400"/>
              <a:t>Overview: interpretability for trustworthy ML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300000"/>
            <a:ext cx="8520600" cy="1950000"/>
          </a:xfrm>
        </p:spPr>
        <p:txBody>
          <a:bodyPr wrap="square"/>
          <a:lstStyle/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500"/>
              <a:t>Deep nets are accurate but opaque — we can't easily tell what each neuron encodes.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500"/>
              <a:t>Prior interpretability (Network Dissection, TCAV, CLIP-Dissect) is tied to a fixed concept vocabulary.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500"/>
              <a:t>MILAN goes open-vocabulary: a learned image-conditioned language model writes the description.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500"/>
              <a:t>Section 7 payoff: use those descriptions to find and remove neurons that latched onto a spurious shortcut.</a:t>
            </a:r>
          </a:p>
        </p:txBody>
      </p:sp>
      <p:pic>
        <p:nvPicPr>
          <p:cNvPr id="4" name="Picture 3" descr="milan_pipelin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270" y="3520000"/>
            <a:ext cx="5351460" cy="126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360000"/>
            <a:ext cx="8520600" cy="840000"/>
          </a:xfrm>
        </p:spPr>
        <p:txBody>
          <a:bodyPr wrap="square" anchor="t"/>
          <a:lstStyle/>
          <a:p>
            <a:r>
              <a:rPr sz="2400"/>
              <a:t>The problem: spurious shortcuts inside neurons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300000"/>
            <a:ext cx="8520600" cy="1500000"/>
          </a:xfrm>
        </p:spPr>
        <p:txBody>
          <a:bodyPr wrap="square"/>
          <a:lstStyle/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500"/>
              <a:t>A model trained on data with a spurious correlation latches onto the shortcut — here, the class name painted in the image corner.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500"/>
              <a:t>Result: high clean accuracy, but adversarial accuracy collapses when the corner text is wrong.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500"/>
              <a:t>Open problem: identify which neurons encode the shortcut, at scale, without retraining.</a:t>
            </a:r>
          </a:p>
        </p:txBody>
      </p:sp>
      <p:pic>
        <p:nvPicPr>
          <p:cNvPr id="4" name="Picture 3" descr="spurious_dataset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05" y="2880000"/>
            <a:ext cx="2505589" cy="197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360000"/>
            <a:ext cx="8520600" cy="840000"/>
          </a:xfrm>
        </p:spPr>
        <p:txBody>
          <a:bodyPr wrap="square" anchor="t"/>
          <a:lstStyle/>
          <a:p>
            <a:r>
              <a:rPr sz="2400"/>
              <a:t>Why this matters for trustworthy ML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300000"/>
            <a:ext cx="8520600" cy="3558000"/>
          </a:xfrm>
        </p:spPr>
        <p:txBody>
          <a:bodyPr wrap="square"/>
          <a:lstStyle/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600"/>
              <a:t>Robustness: text overlays, watermarks and background bias silently degrade real-world deployment.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600"/>
              <a:t>Fairness &amp; auditing: knowing what a model relies on is a prerequisite for accountability.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600"/>
              <a:t>Editing without retraining: full retraining is expensive and brittle — neuron-level edits are surgical and reversible.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600"/>
              <a:t>Three course themes — spurious correlations, adversarial robustness, model editing — meet in one self-contained loop.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 2: Related works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360000"/>
            <a:ext cx="8520600" cy="840000"/>
          </a:xfrm>
        </p:spPr>
        <p:txBody>
          <a:bodyPr wrap="square" anchor="t"/>
          <a:lstStyle/>
          <a:p>
            <a:r>
              <a:rPr sz="2400"/>
              <a:t>Related work: fixed lists → open-vocabulary captions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300000"/>
            <a:ext cx="8520600" cy="1150000"/>
          </a:xfrm>
        </p:spPr>
        <p:txBody>
          <a:bodyPr wrap="square"/>
          <a:lstStyle/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400"/>
              <a:t>Every prior method requires you to enumerate concepts up front — so anything off-vocabulary (like “white text in the corner”) is missed unless anticipated.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400"/>
              <a:t>MILAN removes that bottleneck by learning to caption neurons in free-form English.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1700" y="2530000"/>
          <a:ext cx="8520600" cy="23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5356"/>
                <a:gridCol w="2044944"/>
                <a:gridCol w="2044944"/>
                <a:gridCol w="2215356"/>
              </a:tblGrid>
              <a:tr h="4656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 anchor="ctr" marT="18000" marB="18000" marL="55000" marR="55000">
                    <a:solidFill>
                      <a:srgbClr val="2E3B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Concept source</a:t>
                      </a:r>
                    </a:p>
                  </a:txBody>
                  <a:tcPr anchor="ctr" marT="18000" marB="18000" marL="55000" marR="55000">
                    <a:solidFill>
                      <a:srgbClr val="2E3B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Output</a:t>
                      </a:r>
                    </a:p>
                  </a:txBody>
                  <a:tcPr anchor="ctr" marT="18000" marB="18000" marL="55000" marR="55000">
                    <a:solidFill>
                      <a:srgbClr val="2E3B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Limitation</a:t>
                      </a:r>
                    </a:p>
                  </a:txBody>
                  <a:tcPr anchor="ctr" marT="18000" marB="18000" marL="55000" marR="55000">
                    <a:solidFill>
                      <a:srgbClr val="2E3B4E"/>
                    </a:solidFill>
                  </a:tcPr>
                </a:tc>
              </a:tr>
              <a:tr h="465600">
                <a:tc>
                  <a:txBody>
                    <a:bodyPr/>
                    <a:lstStyle/>
                    <a:p>
                      <a:pPr algn="l"/>
                      <a:r>
                        <a:rPr sz="1150" b="1"/>
                        <a:t>Network Dissection (2017)</a:t>
                      </a:r>
                    </a:p>
                  </a:txBody>
                  <a:tcPr anchor="ctr" marT="18000" marB="18000" marL="55000" marR="550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/>
                        <a:t>~1,200 fixed labels</a:t>
                      </a:r>
                    </a:p>
                  </a:txBody>
                  <a:tcPr anchor="ctr" marT="18000" marB="18000" marL="55000" marR="550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/>
                        <a:t>best-matching concept</a:t>
                      </a:r>
                    </a:p>
                  </a:txBody>
                  <a:tcPr anchor="ctr" marT="18000" marB="18000" marL="55000" marR="550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/>
                        <a:t>closed vocabulary</a:t>
                      </a:r>
                    </a:p>
                  </a:txBody>
                  <a:tcPr anchor="ctr" marT="18000" marB="18000" marL="55000" marR="55000">
                    <a:solidFill>
                      <a:srgbClr val="EEF2F7"/>
                    </a:solidFill>
                  </a:tcPr>
                </a:tc>
              </a:tr>
              <a:tr h="465600">
                <a:tc>
                  <a:txBody>
                    <a:bodyPr/>
                    <a:lstStyle/>
                    <a:p>
                      <a:pPr algn="l"/>
                      <a:r>
                        <a:rPr sz="1150" b="1"/>
                        <a:t>TCAV (2018)</a:t>
                      </a:r>
                    </a:p>
                  </a:txBody>
                  <a:tcPr anchor="ctr" marT="18000" marB="18000" marL="55000" marR="55000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/>
                        <a:t>user concept examples</a:t>
                      </a:r>
                    </a:p>
                  </a:txBody>
                  <a:tcPr anchor="ctr" marT="18000" marB="18000" marL="55000" marR="55000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/>
                        <a:t>directional sensitivity</a:t>
                      </a:r>
                    </a:p>
                  </a:txBody>
                  <a:tcPr anchor="ctr" marT="18000" marB="18000" marL="55000" marR="55000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/>
                        <a:t>needs probe sets per concept</a:t>
                      </a:r>
                    </a:p>
                  </a:txBody>
                  <a:tcPr anchor="ctr" marT="18000" marB="18000" marL="55000" marR="55000">
                    <a:solidFill>
                      <a:srgbClr val="FBFCFE"/>
                    </a:solidFill>
                  </a:tcPr>
                </a:tc>
              </a:tr>
              <a:tr h="465600">
                <a:tc>
                  <a:txBody>
                    <a:bodyPr/>
                    <a:lstStyle/>
                    <a:p>
                      <a:pPr algn="l"/>
                      <a:r>
                        <a:rPr sz="1150" b="1"/>
                        <a:t>CLIP-Dissect (2023)</a:t>
                      </a:r>
                    </a:p>
                  </a:txBody>
                  <a:tcPr anchor="ctr" marT="18000" marB="18000" marL="55000" marR="550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/>
                        <a:t>CLIP text encoder</a:t>
                      </a:r>
                    </a:p>
                  </a:txBody>
                  <a:tcPr anchor="ctr" marT="18000" marB="18000" marL="55000" marR="550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/>
                        <a:t>nearest CLIP concept</a:t>
                      </a:r>
                    </a:p>
                  </a:txBody>
                  <a:tcPr anchor="ctr" marT="18000" marB="18000" marL="55000" marR="550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/>
                        <a:t>still vocab-bound</a:t>
                      </a:r>
                    </a:p>
                  </a:txBody>
                  <a:tcPr anchor="ctr" marT="18000" marB="18000" marL="55000" marR="55000">
                    <a:solidFill>
                      <a:srgbClr val="EEF2F7"/>
                    </a:solidFill>
                  </a:tcPr>
                </a:tc>
              </a:tr>
              <a:tr h="465600">
                <a:tc>
                  <a:txBody>
                    <a:bodyPr/>
                    <a:lstStyle/>
                    <a:p>
                      <a:pPr algn="l"/>
                      <a:r>
                        <a:rPr sz="1150" b="1"/>
                        <a:t>MILAN (this paper)</a:t>
                      </a:r>
                    </a:p>
                  </a:txBody>
                  <a:tcPr anchor="ctr" marT="18000" marB="18000" marL="55000" marR="55000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/>
                        <a:t>60k human captions</a:t>
                      </a:r>
                    </a:p>
                  </a:txBody>
                  <a:tcPr anchor="ctr" marT="18000" marB="18000" marL="55000" marR="55000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/>
                        <a:t>free-form description</a:t>
                      </a:r>
                    </a:p>
                  </a:txBody>
                  <a:tcPr anchor="ctr" marT="18000" marB="18000" marL="55000" marR="55000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/>
                        <a:t>harder to evaluate</a:t>
                      </a:r>
                    </a:p>
                  </a:txBody>
                  <a:tcPr anchor="ctr" marT="18000" marB="18000" marL="55000" marR="55000">
                    <a:solidFill>
                      <a:srgbClr val="FBFC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360000"/>
            <a:ext cx="8520600" cy="840000"/>
          </a:xfrm>
        </p:spPr>
        <p:txBody>
          <a:bodyPr wrap="square" anchor="t"/>
          <a:lstStyle/>
          <a:p>
            <a:r>
              <a:rPr sz="2400"/>
              <a:t>Where MILAN fits — and the trade-off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300000"/>
            <a:ext cx="8520600" cy="3558000"/>
          </a:xfrm>
        </p:spPr>
        <p:txBody>
          <a:bodyPr wrap="square"/>
          <a:lstStyle/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600"/>
              <a:t>Open-vocabulary captions are far more expressive, but harder to score objectively.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600"/>
              <a:t>The paper's fix is a PMI decoding objective (next section) that rewards specificity and penalises generic captions.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600"/>
              <a:t>For editing, the key advantage is that descriptions are directly actionable: regex-flag captions mentioning text, then ablate.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600"/>
              <a:t>Downstream filter is the weak link — a string match for 'text'/'word'/'letter' (we return to this in Limitations).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 3: Main methods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360000"/>
            <a:ext cx="8520600" cy="840000"/>
          </a:xfrm>
        </p:spPr>
        <p:txBody>
          <a:bodyPr wrap="square" anchor="t"/>
          <a:lstStyle/>
          <a:p>
            <a:r>
              <a:rPr sz="2400"/>
              <a:t>Key idea 1 — neurons as top-activating exemplars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300000"/>
            <a:ext cx="8520600" cy="2050000"/>
          </a:xfrm>
        </p:spPr>
        <p:txBody>
          <a:bodyPr wrap="square"/>
          <a:lstStyle/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500"/>
              <a:t>Each conv channel has a set of image patches that maximally activate it — its exemplars.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500"/>
              <a:t>MILAN feeds those exemplars into a small image-conditioned encoder-decoder language model.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500"/>
              <a:t>The decoder is trained on MILANNOTATIONS: 60k human descriptions of such exemplar sets.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500"/>
              <a:t>Output: a free-form English caption per neuron, e.g. “words and letters” or “dog faces”.</a:t>
            </a:r>
          </a:p>
        </p:txBody>
      </p:sp>
      <p:pic>
        <p:nvPicPr>
          <p:cNvPr id="4" name="Picture 3" descr="milan_pipelin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270" y="3520000"/>
            <a:ext cx="5351460" cy="126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360000"/>
            <a:ext cx="8520600" cy="840000"/>
          </a:xfrm>
        </p:spPr>
        <p:txBody>
          <a:bodyPr wrap="square" anchor="t"/>
          <a:lstStyle/>
          <a:p>
            <a:r>
              <a:rPr sz="2400"/>
              <a:t>Key idea 2 — the PMI decoding objective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300000"/>
            <a:ext cx="8520600" cy="3558000"/>
          </a:xfrm>
        </p:spPr>
        <p:txBody>
          <a:bodyPr wrap="square"/>
          <a:lstStyle/>
          <a:p>
            <a:pPr marL="0" indent="0" lvl="0" algn="l">
              <a:spcBef>
                <a:spcPts val="600"/>
              </a:spcBef>
              <a:spcAft>
                <a:spcPts val="300"/>
              </a:spcAft>
              <a:buNone/>
            </a:pPr>
            <a:r>
              <a:rPr sz="1500" b="1"/>
              <a:t>What it solves</a:t>
            </a:r>
          </a:p>
          <a:p>
            <a:pPr marL="742950" indent="-285750" lvl="1" algn="l">
              <a:spcBef>
                <a:spcPts val="0"/>
              </a:spcBef>
              <a:spcAft>
                <a:spcPts val="300"/>
              </a:spcAft>
              <a:buSzPts val="1300"/>
              <a:buChar char="◦"/>
            </a:pPr>
            <a:r>
              <a:rPr sz="1500"/>
              <a:t>Plain likelihood decoding produces bland captions ('an image', 'a photo').</a:t>
            </a:r>
          </a:p>
          <a:p>
            <a:pPr marL="742950" indent="-285750" lvl="1" algn="l">
              <a:spcBef>
                <a:spcPts val="0"/>
              </a:spcBef>
              <a:spcAft>
                <a:spcPts val="300"/>
              </a:spcAft>
              <a:buSzPts val="1300"/>
              <a:buChar char="◦"/>
            </a:pPr>
            <a:r>
              <a:rPr sz="1500"/>
              <a:t>MILAN instead maximises pointwise mutual information:</a:t>
            </a:r>
          </a:p>
          <a:p>
            <a:pPr marL="742950" indent="-285750" lvl="1" algn="l">
              <a:spcBef>
                <a:spcPts val="0"/>
              </a:spcBef>
              <a:spcAft>
                <a:spcPts val="300"/>
              </a:spcAft>
              <a:buSzPts val="1300"/>
              <a:buChar char="◦"/>
            </a:pPr>
            <a:r>
              <a:rPr sz="1500"/>
              <a:t>    argmax_d  log p(d | exemplars)  −  λ·log p(d)</a:t>
            </a:r>
          </a:p>
          <a:p>
            <a:pPr marL="742950" indent="-285750" lvl="1" algn="l">
              <a:spcBef>
                <a:spcPts val="0"/>
              </a:spcBef>
              <a:spcAft>
                <a:spcPts val="300"/>
              </a:spcAft>
              <a:buSzPts val="1300"/>
              <a:buChar char="◦"/>
            </a:pPr>
            <a:r>
              <a:rPr sz="1500"/>
              <a:t>The −log p(d) term penalises descriptions that are likely regardless of the neuron, pushing toward specificity.</a:t>
            </a:r>
          </a:p>
          <a:p>
            <a:pPr marL="0" indent="0" lvl="0" algn="l">
              <a:spcBef>
                <a:spcPts val="600"/>
              </a:spcBef>
              <a:spcAft>
                <a:spcPts val="300"/>
              </a:spcAft>
              <a:buNone/>
            </a:pPr>
            <a:r>
              <a:rPr sz="1500" b="1"/>
              <a:t>Why it matters for us</a:t>
            </a:r>
          </a:p>
          <a:p>
            <a:pPr marL="742950" indent="-285750" lvl="1" algn="l">
              <a:spcBef>
                <a:spcPts val="0"/>
              </a:spcBef>
              <a:spcAft>
                <a:spcPts val="300"/>
              </a:spcAft>
              <a:buSzPts val="1300"/>
              <a:buChar char="◦"/>
            </a:pPr>
            <a:r>
              <a:rPr sz="1500"/>
              <a:t>Specific captions ('words', 'letters') are exactly what makes text-selective neurons findable by a keyword filter.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360000"/>
            <a:ext cx="8520600" cy="840000"/>
          </a:xfrm>
        </p:spPr>
        <p:txBody>
          <a:bodyPr wrap="square" anchor="t"/>
          <a:lstStyle/>
          <a:p>
            <a:r>
              <a:rPr sz="2400"/>
              <a:t>Key idea 3 — editing spurious features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300000"/>
            <a:ext cx="8520600" cy="2100000"/>
          </a:xfrm>
        </p:spPr>
        <p:txBody>
          <a:bodyPr wrap="square"/>
          <a:lstStyle/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500"/>
              <a:t>1. Train a classifier on spurious-text data (class name painted in a corner).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500"/>
              <a:t>2. Extract top-k exemplars for every neuron; caption each with MILAN.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500"/>
              <a:t>3. Flag text-selective neurons by regex ('text' / 'word' / 'letter').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500"/>
              <a:t>4. Ablate (zero) the flagged neurons and re-measure adversarial accuracy.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500"/>
              <a:t>No retraining, no gradient surgery — the captions alone tell you what to remove.</a:t>
            </a:r>
          </a:p>
        </p:txBody>
      </p:sp>
      <p:pic>
        <p:nvPicPr>
          <p:cNvPr id="4" name="Picture 3" descr="spurious_dataset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224" y="3480000"/>
            <a:ext cx="1745552" cy="137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 4: Experiment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360000"/>
            <a:ext cx="8520600" cy="840000"/>
          </a:xfrm>
        </p:spPr>
        <p:txBody>
          <a:bodyPr wrap="square" anchor="t"/>
          <a:lstStyle/>
          <a:p>
            <a:r>
              <a:rPr sz="2400"/>
              <a:t>Experimental setup — dataset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300000"/>
            <a:ext cx="8520600" cy="1700000"/>
          </a:xfrm>
        </p:spPr>
        <p:txBody>
          <a:bodyPr wrap="square"/>
          <a:lstStyle/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500"/>
              <a:t>Spurious-text Imagenette: 10 ImageNet classes, class name painted in the top-left corner.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500"/>
              <a:t>Training set: 10% of images carry their (correct) class-name overlay — a predictive shortcut.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500"/>
              <a:t>Adversarial test set: every image carries a wrong-class overlay (the robustness probe).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500"/>
              <a:t>We use Imagenette (a public 10-class ImageNet subset) in place of the paper's full-ImageNet generator (compute).</a:t>
            </a:r>
          </a:p>
        </p:txBody>
      </p:sp>
      <p:pic>
        <p:nvPicPr>
          <p:cNvPr id="4" name="Picture 3" descr="spurious_dataset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5878" y="3080000"/>
            <a:ext cx="2252243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360000"/>
            <a:ext cx="8520600" cy="840000"/>
          </a:xfrm>
        </p:spPr>
        <p:txBody>
          <a:bodyPr wrap="square" anchor="t"/>
          <a:lstStyle/>
          <a:p>
            <a:r>
              <a:rPr sz="2400"/>
              <a:t>Experimental setup — model, MILAN &amp; metrics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300000"/>
            <a:ext cx="8520600" cy="3558000"/>
          </a:xfrm>
        </p:spPr>
        <p:txBody>
          <a:bodyPr wrap="square"/>
          <a:lstStyle/>
          <a:p>
            <a:pPr marL="0" indent="0" lvl="0" algn="l">
              <a:spcBef>
                <a:spcPts val="600"/>
              </a:spcBef>
              <a:spcAft>
                <a:spcPts val="300"/>
              </a:spcAft>
              <a:buNone/>
            </a:pPr>
            <a:r>
              <a:rPr sz="1400" b="1"/>
              <a:t>Model</a:t>
            </a:r>
          </a:p>
          <a:p>
            <a:pPr marL="742950" indent="-285750" lvl="1" algn="l">
              <a:spcBef>
                <a:spcPts val="0"/>
              </a:spcBef>
              <a:spcAft>
                <a:spcPts val="300"/>
              </a:spcAft>
              <a:buSzPts val="1300"/>
              <a:buChar char="◦"/>
            </a:pPr>
            <a:r>
              <a:rPr sz="1400"/>
              <a:t>ResNet18 trained from scratch (Appendix-E hyperparameters); also VGG16 and zero-shot CLIP ViT-B/32 for the extensions.</a:t>
            </a:r>
          </a:p>
          <a:p>
            <a:pPr marL="0" indent="0" lvl="0" algn="l">
              <a:spcBef>
                <a:spcPts val="600"/>
              </a:spcBef>
              <a:spcAft>
                <a:spcPts val="300"/>
              </a:spcAft>
              <a:buNone/>
            </a:pPr>
            <a:r>
              <a:rPr sz="1400" b="1"/>
              <a:t>MILAN</a:t>
            </a:r>
          </a:p>
          <a:p>
            <a:pPr marL="742950" indent="-285750" lvl="1" algn="l">
              <a:spcBef>
                <a:spcPts val="0"/>
              </a:spcBef>
              <a:spcAft>
                <a:spcPts val="300"/>
              </a:spcAft>
              <a:buSzPts val="1300"/>
              <a:buChar char="◦"/>
            </a:pPr>
            <a:r>
              <a:rPr sz="1400"/>
              <a:t>Pretrained 'base' decoder from milan.csail.mit.edu — the authors' exact checkpoint.</a:t>
            </a:r>
          </a:p>
          <a:p>
            <a:pPr marL="0" indent="0" lvl="0" algn="l">
              <a:spcBef>
                <a:spcPts val="600"/>
              </a:spcBef>
              <a:spcAft>
                <a:spcPts val="300"/>
              </a:spcAft>
              <a:buNone/>
            </a:pPr>
            <a:r>
              <a:rPr sz="1400" b="1"/>
              <a:t>Metrics</a:t>
            </a:r>
          </a:p>
          <a:p>
            <a:pPr marL="742950" indent="-285750" lvl="1" algn="l">
              <a:spcBef>
                <a:spcPts val="0"/>
              </a:spcBef>
              <a:spcAft>
                <a:spcPts val="300"/>
              </a:spcAft>
              <a:buSzPts val="1300"/>
              <a:buChar char="◦"/>
            </a:pPr>
            <a:r>
              <a:rPr sz="1400"/>
              <a:t>Clean val accuracy; adversarial test accuracy; ablation curve (adv-acc vs # neurons zeroed); text-neuron count.</a:t>
            </a:r>
          </a:p>
          <a:p>
            <a:pPr marL="0" indent="0" lvl="0" algn="l">
              <a:spcBef>
                <a:spcPts val="600"/>
              </a:spcBef>
              <a:spcAft>
                <a:spcPts val="300"/>
              </a:spcAft>
              <a:buNone/>
            </a:pPr>
            <a:r>
              <a:rPr sz="1400" b="1"/>
              <a:t>Compute</a:t>
            </a:r>
          </a:p>
          <a:p>
            <a:pPr marL="742950" indent="-285750" lvl="1" algn="l">
              <a:spcBef>
                <a:spcPts val="0"/>
              </a:spcBef>
              <a:spcAft>
                <a:spcPts val="300"/>
              </a:spcAft>
              <a:buSzPts val="1300"/>
              <a:buChar char="◦"/>
            </a:pPr>
            <a:r>
              <a:rPr sz="1400"/>
              <a:t>Originally DSMLP GTX 1080 Ti (11 GB) — several OOM patches; reruns on a local RTX 5090.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360000"/>
            <a:ext cx="8520600" cy="840000"/>
          </a:xfrm>
        </p:spPr>
        <p:txBody>
          <a:bodyPr wrap="square" anchor="t"/>
          <a:lstStyle/>
          <a:p>
            <a:r>
              <a:rPr sz="2400"/>
              <a:t>Paper's key result 1 — MILAN finds the text neuron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300000"/>
            <a:ext cx="8520600" cy="1500000"/>
          </a:xfrm>
        </p:spPr>
        <p:txBody>
          <a:bodyPr wrap="square"/>
          <a:lstStyle/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500"/>
              <a:t>The paper trains a 10-class ImageNet classifier with class-name text stamped in the corner.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500"/>
              <a:t>(a) training examples · (b) adversarial test set with wrong-class text.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500"/>
              <a:t>(c) the top exemplars of neuron layer3-134, which MILAN captions “words and letters” — exactly the spurious feature.</a:t>
            </a:r>
          </a:p>
        </p:txBody>
      </p:sp>
      <p:pic>
        <p:nvPicPr>
          <p:cNvPr id="4" name="Picture 3" descr="paper_fi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679" y="2880000"/>
            <a:ext cx="2048642" cy="197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360000"/>
            <a:ext cx="8520600" cy="840000"/>
          </a:xfrm>
        </p:spPr>
        <p:txBody>
          <a:bodyPr wrap="square" anchor="t"/>
          <a:lstStyle/>
          <a:p>
            <a:r>
              <a:rPr sz="2400"/>
              <a:t>Paper's key result 2 — ablation recovers robustness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300000"/>
            <a:ext cx="8520600" cy="1500000"/>
          </a:xfrm>
        </p:spPr>
        <p:txBody>
          <a:bodyPr wrap="square"/>
          <a:lstStyle/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500"/>
              <a:t>Y-axis: adversarial accuracy; X-axis: number of neurons zeroed.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500"/>
              <a:t>Blue 'sort text' (ablate MILAN text neurons) climbs from ~58% to ~63%, beating the orange 'sort all' importance baseline.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500"/>
              <a:t>Dashed line: the no-text-distractor ceiling. Editing closes much of the gap without retraining.</a:t>
            </a:r>
          </a:p>
        </p:txBody>
      </p:sp>
      <p:pic>
        <p:nvPicPr>
          <p:cNvPr id="4" name="Picture 3" descr="paper_fig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27" y="2880000"/>
            <a:ext cx="2798146" cy="197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360000"/>
            <a:ext cx="8520600" cy="840000"/>
          </a:xfrm>
        </p:spPr>
        <p:txBody>
          <a:bodyPr wrap="square" anchor="t"/>
          <a:lstStyle/>
          <a:p>
            <a:r>
              <a:rPr sz="2400"/>
              <a:t>Code reproduction — setup &amp; headline numbers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300000"/>
            <a:ext cx="8520600" cy="1150000"/>
          </a:xfrm>
        </p:spPr>
        <p:txBody>
          <a:bodyPr wrap="square"/>
          <a:lstStyle/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400"/>
              <a:t>Same pipeline on spurious-text Imagenette (10% overlay), the authors' MILAN 'base' decoder, and the paper's ablation protocol.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400"/>
              <a:t>We reproduce the qualitative story; absolute numbers differ (Imagenette vs full ImageNet, 10 vs 1000 classes).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1700" y="2530000"/>
          <a:ext cx="8520600" cy="23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8240"/>
                <a:gridCol w="2556180"/>
                <a:gridCol w="2556180"/>
              </a:tblGrid>
              <a:tr h="4656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anchor="ctr" marT="18000" marB="18000" marL="55000" marR="55000">
                    <a:solidFill>
                      <a:srgbClr val="2E3B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Paper (trend)</a:t>
                      </a:r>
                    </a:p>
                  </a:txBody>
                  <a:tcPr anchor="ctr" marT="18000" marB="18000" marL="55000" marR="55000">
                    <a:solidFill>
                      <a:srgbClr val="2E3B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Ours (10% overlay)</a:t>
                      </a:r>
                    </a:p>
                  </a:txBody>
                  <a:tcPr anchor="ctr" marT="18000" marB="18000" marL="55000" marR="55000">
                    <a:solidFill>
                      <a:srgbClr val="2E3B4E"/>
                    </a:solidFill>
                  </a:tcPr>
                </a:tc>
              </a:tr>
              <a:tr h="465600">
                <a:tc>
                  <a:txBody>
                    <a:bodyPr/>
                    <a:lstStyle/>
                    <a:p>
                      <a:pPr algn="l"/>
                      <a:r>
                        <a:rPr sz="1200" b="1"/>
                        <a:t>Clean accuracy</a:t>
                      </a:r>
                    </a:p>
                  </a:txBody>
                  <a:tcPr anchor="ctr" marT="18000" marB="18000" marL="55000" marR="550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high</a:t>
                      </a:r>
                    </a:p>
                  </a:txBody>
                  <a:tcPr anchor="ctr" marT="18000" marB="18000" marL="55000" marR="550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75.4%</a:t>
                      </a:r>
                    </a:p>
                  </a:txBody>
                  <a:tcPr anchor="ctr" marT="18000" marB="18000" marL="55000" marR="55000">
                    <a:solidFill>
                      <a:srgbClr val="EEF2F7"/>
                    </a:solidFill>
                  </a:tcPr>
                </a:tc>
              </a:tr>
              <a:tr h="465600">
                <a:tc>
                  <a:txBody>
                    <a:bodyPr/>
                    <a:lstStyle/>
                    <a:p>
                      <a:pPr algn="l"/>
                      <a:r>
                        <a:rPr sz="1200" b="1"/>
                        <a:t>Adversarial accuracy (no ablation)</a:t>
                      </a:r>
                    </a:p>
                  </a:txBody>
                  <a:tcPr anchor="ctr" marT="18000" marB="18000" marL="55000" marR="55000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~58%</a:t>
                      </a:r>
                    </a:p>
                  </a:txBody>
                  <a:tcPr anchor="ctr" marT="18000" marB="18000" marL="55000" marR="55000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51.5%</a:t>
                      </a:r>
                    </a:p>
                  </a:txBody>
                  <a:tcPr anchor="ctr" marT="18000" marB="18000" marL="55000" marR="55000">
                    <a:solidFill>
                      <a:srgbClr val="FBFCFE"/>
                    </a:solidFill>
                  </a:tcPr>
                </a:tc>
              </a:tr>
              <a:tr h="465600">
                <a:tc>
                  <a:txBody>
                    <a:bodyPr/>
                    <a:lstStyle/>
                    <a:p>
                      <a:pPr algn="l"/>
                      <a:r>
                        <a:rPr sz="1200" b="1"/>
                        <a:t>MILAN text neurons</a:t>
                      </a:r>
                    </a:p>
                  </a:txBody>
                  <a:tcPr anchor="ctr" marT="18000" marB="18000" marL="55000" marR="550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a minority</a:t>
                      </a:r>
                    </a:p>
                  </a:txBody>
                  <a:tcPr anchor="ctr" marT="18000" marB="18000" marL="55000" marR="550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216 / 1024 (21.1%)</a:t>
                      </a:r>
                    </a:p>
                  </a:txBody>
                  <a:tcPr anchor="ctr" marT="18000" marB="18000" marL="55000" marR="55000">
                    <a:solidFill>
                      <a:srgbClr val="EEF2F7"/>
                    </a:solidFill>
                  </a:tcPr>
                </a:tc>
              </a:tr>
              <a:tr h="465600">
                <a:tc>
                  <a:txBody>
                    <a:bodyPr/>
                    <a:lstStyle/>
                    <a:p>
                      <a:pPr algn="l"/>
                      <a:r>
                        <a:rPr sz="1200" b="1"/>
                        <a:t>Effect of ablating text neurons</a:t>
                      </a:r>
                    </a:p>
                  </a:txBody>
                  <a:tcPr anchor="ctr" marT="18000" marB="18000" marL="55000" marR="55000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recovers adv-acc, beats baselines</a:t>
                      </a:r>
                    </a:p>
                  </a:txBody>
                  <a:tcPr anchor="ctr" marT="18000" marB="18000" marL="55000" marR="55000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51.5% → ~55%, beats random/importance</a:t>
                      </a:r>
                    </a:p>
                  </a:txBody>
                  <a:tcPr anchor="ctr" marT="18000" marB="18000" marL="55000" marR="55000">
                    <a:solidFill>
                      <a:srgbClr val="FBFC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360000"/>
            <a:ext cx="8520600" cy="840000"/>
          </a:xfrm>
        </p:spPr>
        <p:txBody>
          <a:bodyPr wrap="square" anchor="t"/>
          <a:lstStyle/>
          <a:p>
            <a:r>
              <a:rPr sz="2400"/>
              <a:t>Code reproduction — text neurons (our Fig 7)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300000"/>
            <a:ext cx="8520600" cy="1250000"/>
          </a:xfrm>
        </p:spPr>
        <p:txBody>
          <a:bodyPr wrap="square"/>
          <a:lstStyle/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400"/>
              <a:t>Eight MILAN-flagged text neurons from our ResNet18, with the captions as row labels.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400"/>
              <a:t>The painted class words visible in the exemplar thumbnails ('pump', 'truck', 'springer'…) are exactly what these neurons fire on — MILAN is finding the right thing.</a:t>
            </a:r>
          </a:p>
        </p:txBody>
      </p:sp>
      <p:pic>
        <p:nvPicPr>
          <p:cNvPr id="4" name="Picture 3" descr="fi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9349" y="2630000"/>
            <a:ext cx="1285301" cy="222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360000"/>
            <a:ext cx="8520600" cy="840000"/>
          </a:xfrm>
        </p:spPr>
        <p:txBody>
          <a:bodyPr wrap="square" anchor="t"/>
          <a:lstStyle/>
          <a:p>
            <a:r>
              <a:rPr sz="2400"/>
              <a:t>Code reproduction — ablation curve (our Fig 8)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300000"/>
            <a:ext cx="8520600" cy="1500000"/>
          </a:xfrm>
        </p:spPr>
        <p:txBody>
          <a:bodyPr wrap="square"/>
          <a:lstStyle/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500"/>
              <a:t>From the 51.5% no-ablation baseline, zeroing MILAN's text neurons (blue) recovers adversarial accuracy to ~55% and holds.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500"/>
              <a:t>Ablating the same count by importance (orange) or at random (gray) instead degrades to ~46% / ~37%.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500"/>
              <a:t>So caption-guided editing clearly beats both baselines — the paper's Section-7 claim reproduces.</a:t>
            </a:r>
          </a:p>
        </p:txBody>
      </p:sp>
      <p:pic>
        <p:nvPicPr>
          <p:cNvPr id="4" name="Picture 3" descr="fig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2452" y="2880000"/>
            <a:ext cx="3079096" cy="197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360000"/>
            <a:ext cx="8520600" cy="840000"/>
          </a:xfrm>
        </p:spPr>
        <p:txBody>
          <a:bodyPr wrap="square" anchor="t"/>
          <a:lstStyle/>
          <a:p>
            <a:r>
              <a:rPr sz="2400"/>
              <a:t>Additional experiment 1 — VGG16 generalization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300000"/>
            <a:ext cx="8520600" cy="1700000"/>
          </a:xfrm>
        </p:spPr>
        <p:txBody>
          <a:bodyPr wrap="square"/>
          <a:lstStyle/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400"/>
              <a:t>VGG16 trained on the same 10% spurious set; MILAN flags 357/1472 (24.3%) text neurons.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400"/>
              <a:t>VGG16 is more shortcut-reliant than ResNet18 (adv baseline 19.8% vs 51.5%).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400"/>
              <a:t>Yet text-sorted ablation still recovers it strongly: 19.8% → 32.7% (+12.8pp), clearly above random — the editing generalizes across CNNs with no code changes.</a:t>
            </a:r>
          </a:p>
        </p:txBody>
      </p:sp>
      <p:pic>
        <p:nvPicPr>
          <p:cNvPr id="4" name="Picture 3" descr="fig_arch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768" y="2950000"/>
            <a:ext cx="3076163" cy="1908000"/>
          </a:xfrm>
          <a:prstGeom prst="rect">
            <a:avLst/>
          </a:prstGeom>
        </p:spPr>
      </p:pic>
      <p:pic>
        <p:nvPicPr>
          <p:cNvPr id="5" name="Picture 4" descr="arch_text_neuron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8768" y="2950000"/>
            <a:ext cx="2986763" cy="190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360000"/>
            <a:ext cx="8520600" cy="840000"/>
          </a:xfrm>
        </p:spPr>
        <p:txBody>
          <a:bodyPr wrap="square" anchor="t"/>
          <a:lstStyle/>
          <a:p>
            <a:r>
              <a:rPr sz="2400"/>
              <a:t>Additional experiment 2 — where the shortcut lives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300000"/>
            <a:ext cx="8520600" cy="1700000"/>
          </a:xfrm>
        </p:spPr>
        <p:txBody>
          <a:bodyPr wrap="square"/>
          <a:lstStyle/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400"/>
              <a:t>Per-layer MILAN text-neuron fraction in ResNet18: 9 → 27 → 37 → 77 → 66 (conv1 → layer4).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400"/>
              <a:t>It jumps 3.0× from conv1 (14%) to layer1 (42%) — the shortcut appears right after the first residual block — then thins out with depth.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400"/>
              <a:t>Description diversity falls monotonically with depth: deeper neurons are more redundant / object-like.</a:t>
            </a:r>
          </a:p>
        </p:txBody>
      </p:sp>
      <p:pic>
        <p:nvPicPr>
          <p:cNvPr id="4" name="Picture 3" descr="fig_layer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541" y="2950000"/>
            <a:ext cx="5110918" cy="190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360000"/>
            <a:ext cx="8520600" cy="840000"/>
          </a:xfrm>
        </p:spPr>
        <p:txBody>
          <a:bodyPr wrap="square" anchor="t"/>
          <a:lstStyle/>
          <a:p>
            <a:r>
              <a:rPr sz="2400"/>
              <a:t>Additional experiment 3 — is CLIP more robust?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300000"/>
            <a:ext cx="8520600" cy="1700000"/>
          </a:xfrm>
        </p:spPr>
        <p:txBody>
          <a:bodyPr wrap="square"/>
          <a:lstStyle/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400"/>
              <a:t>Run MILAN on CLIP's vision transformer blocks (no task training on the spurious set).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400"/>
              <a:t>Max text-neuron fraction across blocks is 7.9% (61/768) — about 2.7× lower than ResNet18 (21.1%).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400"/>
              <a:t>Top words are 'objects', 'colored', 'white' — not 'words'/'letters'. CLIP's vision-language pretraining is structurally more robust to text overlays.</a:t>
            </a:r>
          </a:p>
        </p:txBody>
      </p:sp>
      <p:pic>
        <p:nvPicPr>
          <p:cNvPr id="4" name="Picture 3" descr="fig_clip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970" y="2950000"/>
            <a:ext cx="5524059" cy="190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 5: Concluding remarks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360000"/>
            <a:ext cx="8520600" cy="840000"/>
          </a:xfrm>
        </p:spPr>
        <p:txBody>
          <a:bodyPr wrap="square" anchor="t"/>
          <a:lstStyle/>
          <a:p>
            <a:r>
              <a:rPr sz="2400"/>
              <a:t>Conclusions &amp; take-away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300000"/>
            <a:ext cx="8520600" cy="2350000"/>
          </a:xfrm>
        </p:spPr>
        <p:txBody>
          <a:bodyPr wrap="square"/>
          <a:lstStyle/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400"/>
              <a:t>MILAN reproduces on Imagenette (10% overlay): 216/1024 text neurons; ablation recovers adv-acc 51.5% → ~55%, beating random/importance.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400"/>
              <a:t>Editing generalizes across CNN architectures (ResNet18 → VGG16) with no code changes.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400"/>
              <a:t>Spurious shortcuts crystallize right after the first residual block, then thin out with depth.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400"/>
              <a:t>CLIP's image-language pretraining is ~2.7× sparser in text-selective neurons than a task-trained CNN.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400"/>
              <a:t>Open-vocabulary, model-agnostic neuron descriptions are a practical handle for editing model behaviour.</a:t>
            </a:r>
          </a:p>
        </p:txBody>
      </p:sp>
      <p:pic>
        <p:nvPicPr>
          <p:cNvPr id="4" name="Picture 3" descr="summary_metric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096" y="3600000"/>
            <a:ext cx="4469807" cy="12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 6: Discussion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360000"/>
            <a:ext cx="8520600" cy="840000"/>
          </a:xfrm>
        </p:spPr>
        <p:txBody>
          <a:bodyPr wrap="square" anchor="t"/>
          <a:lstStyle/>
          <a:p>
            <a:r>
              <a:rPr sz="2400"/>
              <a:t>What we liked / didn't like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300000"/>
            <a:ext cx="8520600" cy="3558000"/>
          </a:xfrm>
        </p:spPr>
        <p:txBody>
          <a:bodyPr wrap="square"/>
          <a:lstStyle/>
          <a:p>
            <a:pPr marL="0" indent="0" lvl="0" algn="l">
              <a:spcBef>
                <a:spcPts val="600"/>
              </a:spcBef>
              <a:spcAft>
                <a:spcPts val="300"/>
              </a:spcAft>
              <a:buNone/>
            </a:pPr>
            <a:r>
              <a:rPr sz="1400" b="1"/>
              <a:t>Liked</a:t>
            </a:r>
          </a:p>
          <a:p>
            <a:pPr marL="742950" indent="-285750" lvl="1" algn="l">
              <a:spcBef>
                <a:spcPts val="0"/>
              </a:spcBef>
              <a:spcAft>
                <a:spcPts val="300"/>
              </a:spcAft>
              <a:buSzPts val="1300"/>
              <a:buChar char="◦"/>
            </a:pPr>
            <a:r>
              <a:rPr sz="1400"/>
              <a:t>Open-vocabulary descriptions — no concept set to engineer.</a:t>
            </a:r>
          </a:p>
          <a:p>
            <a:pPr marL="742950" indent="-285750" lvl="1" algn="l">
              <a:spcBef>
                <a:spcPts val="0"/>
              </a:spcBef>
              <a:spcAft>
                <a:spcPts val="300"/>
              </a:spcAft>
              <a:buSzPts val="1300"/>
              <a:buChar char="◦"/>
            </a:pPr>
            <a:r>
              <a:rPr sz="1400"/>
              <a:t>Model-agnostic — same decoder on ResNet, VGG, CLIP.</a:t>
            </a:r>
          </a:p>
          <a:p>
            <a:pPr marL="742950" indent="-285750" lvl="1" algn="l">
              <a:spcBef>
                <a:spcPts val="0"/>
              </a:spcBef>
              <a:spcAft>
                <a:spcPts val="300"/>
              </a:spcAft>
              <a:buSzPts val="1300"/>
              <a:buChar char="◦"/>
            </a:pPr>
            <a:r>
              <a:rPr sz="1400"/>
              <a:t>Descriptions are actionable — they enable editing, not just analysis.</a:t>
            </a:r>
          </a:p>
          <a:p>
            <a:pPr marL="0" indent="0" lvl="0" algn="l">
              <a:spcBef>
                <a:spcPts val="600"/>
              </a:spcBef>
              <a:spcAft>
                <a:spcPts val="300"/>
              </a:spcAft>
              <a:buNone/>
            </a:pPr>
            <a:r>
              <a:rPr sz="1400" b="1"/>
              <a:t>Didn't like</a:t>
            </a:r>
          </a:p>
          <a:p>
            <a:pPr marL="742950" indent="-285750" lvl="1" algn="l">
              <a:spcBef>
                <a:spcPts val="0"/>
              </a:spcBef>
              <a:spcAft>
                <a:spcPts val="300"/>
              </a:spcAft>
              <a:buSzPts val="1300"/>
              <a:buChar char="◦"/>
            </a:pPr>
            <a:r>
              <a:rPr sz="1400"/>
              <a:t>Text-neuron identification is a brittle regex ('caption', 'sign', 'character' slip through).</a:t>
            </a:r>
          </a:p>
          <a:p>
            <a:pPr marL="742950" indent="-285750" lvl="1" algn="l">
              <a:spcBef>
                <a:spcPts val="0"/>
              </a:spcBef>
              <a:spcAft>
                <a:spcPts val="300"/>
              </a:spcAft>
              <a:buSzPts val="1300"/>
              <a:buChar char="◦"/>
            </a:pPr>
            <a:r>
              <a:rPr sz="1400"/>
              <a:t>Decoder is English-only, bounded by the 60k-caption corpus.</a:t>
            </a:r>
          </a:p>
          <a:p>
            <a:pPr marL="742950" indent="-285750" lvl="1" algn="l">
              <a:spcBef>
                <a:spcPts val="0"/>
              </a:spcBef>
              <a:spcAft>
                <a:spcPts val="300"/>
              </a:spcAft>
              <a:buSzPts val="1300"/>
              <a:buChar char="◦"/>
            </a:pPr>
            <a:r>
              <a:rPr sz="1400"/>
              <a:t>No uncertainty on captions — confidently wrong looks like confidently right.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360000"/>
            <a:ext cx="8520600" cy="840000"/>
          </a:xfrm>
        </p:spPr>
        <p:txBody>
          <a:bodyPr wrap="square" anchor="t"/>
          <a:lstStyle/>
          <a:p>
            <a:r>
              <a:rPr sz="2400"/>
              <a:t>Strengths &amp; weaknesses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300000"/>
            <a:ext cx="8520600" cy="3558000"/>
          </a:xfrm>
        </p:spPr>
        <p:txBody>
          <a:bodyPr wrap="square"/>
          <a:lstStyle/>
          <a:p>
            <a:pPr marL="0" indent="0" lvl="0" algn="l">
              <a:spcBef>
                <a:spcPts val="600"/>
              </a:spcBef>
              <a:spcAft>
                <a:spcPts val="300"/>
              </a:spcAft>
              <a:buNone/>
            </a:pPr>
            <a:r>
              <a:rPr sz="1400" b="1"/>
              <a:t>Strengths</a:t>
            </a:r>
          </a:p>
          <a:p>
            <a:pPr marL="742950" indent="-285750" lvl="1" algn="l">
              <a:spcBef>
                <a:spcPts val="0"/>
              </a:spcBef>
              <a:spcAft>
                <a:spcPts val="300"/>
              </a:spcAft>
              <a:buSzPts val="1300"/>
              <a:buChar char="◦"/>
            </a:pPr>
            <a:r>
              <a:rPr sz="1400"/>
              <a:t>PMI objective is a clean, principled fix for generic captions.</a:t>
            </a:r>
          </a:p>
          <a:p>
            <a:pPr marL="742950" indent="-285750" lvl="1" algn="l">
              <a:spcBef>
                <a:spcPts val="0"/>
              </a:spcBef>
              <a:spcAft>
                <a:spcPts val="300"/>
              </a:spcAft>
              <a:buSzPts val="1300"/>
              <a:buChar char="◦"/>
            </a:pPr>
            <a:r>
              <a:rPr sz="1400"/>
              <a:t>Three case studies in the paper (BigGAN, ImageNet classifiers, adversarial editing) — real utility, not toy demos.</a:t>
            </a:r>
          </a:p>
          <a:p>
            <a:pPr marL="742950" indent="-285750" lvl="1" algn="l">
              <a:spcBef>
                <a:spcPts val="0"/>
              </a:spcBef>
              <a:spcAft>
                <a:spcPts val="300"/>
              </a:spcAft>
              <a:buSzPts val="1300"/>
              <a:buChar char="◦"/>
            </a:pPr>
            <a:r>
              <a:rPr sz="1400"/>
              <a:t>Pretrained decoder is plug-and-play across architectures.</a:t>
            </a:r>
          </a:p>
          <a:p>
            <a:pPr marL="0" indent="0" lvl="0" algn="l">
              <a:spcBef>
                <a:spcPts val="600"/>
              </a:spcBef>
              <a:spcAft>
                <a:spcPts val="300"/>
              </a:spcAft>
              <a:buNone/>
            </a:pPr>
            <a:r>
              <a:rPr sz="1400" b="1"/>
              <a:t>Weaknesses</a:t>
            </a:r>
          </a:p>
          <a:p>
            <a:pPr marL="742950" indent="-285750" lvl="1" algn="l">
              <a:spcBef>
                <a:spcPts val="0"/>
              </a:spcBef>
              <a:spcAft>
                <a:spcPts val="300"/>
              </a:spcAft>
              <a:buSzPts val="1300"/>
              <a:buChar char="◦"/>
            </a:pPr>
            <a:r>
              <a:rPr sz="1400"/>
              <a:t>Decoder quality is bounded by the size/diversity of the 60k-caption corpus.</a:t>
            </a:r>
          </a:p>
          <a:p>
            <a:pPr marL="742950" indent="-285750" lvl="1" algn="l">
              <a:spcBef>
                <a:spcPts val="0"/>
              </a:spcBef>
              <a:spcAft>
                <a:spcPts val="300"/>
              </a:spcAft>
              <a:buSzPts val="1300"/>
              <a:buChar char="◦"/>
            </a:pPr>
            <a:r>
              <a:rPr sz="1400"/>
              <a:t>Transformer units need custom adapters — we wrote clip_glue.py to reshape ViT tokens to (B,C,H,W).</a:t>
            </a:r>
          </a:p>
          <a:p>
            <a:pPr marL="742950" indent="-285750" lvl="1" algn="l">
              <a:spcBef>
                <a:spcPts val="0"/>
              </a:spcBef>
              <a:spcAft>
                <a:spcPts val="300"/>
              </a:spcAft>
              <a:buSzPts val="1300"/>
              <a:buChar char="◦"/>
            </a:pPr>
            <a:r>
              <a:rPr sz="1400"/>
              <a:t>No reported test for caption consistency across seeds.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360000"/>
            <a:ext cx="8520600" cy="840000"/>
          </a:xfrm>
        </p:spPr>
        <p:txBody>
          <a:bodyPr wrap="square" anchor="t"/>
          <a:lstStyle/>
          <a:p>
            <a:r>
              <a:rPr sz="2400"/>
              <a:t>Limitations of this paper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300000"/>
            <a:ext cx="8520600" cy="3558000"/>
          </a:xfrm>
        </p:spPr>
        <p:txBody>
          <a:bodyPr wrap="square"/>
          <a:lstStyle/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400"/>
              <a:t>Keyword-based text-neuron identification is brittle — 'sign', 'character', 'label' all describe text but miss the regex.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400"/>
              <a:t>Ablation is destructive: a neuron is zeroed in full, with no graded / fine-grained edit.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400"/>
              <a:t>Only top-k exemplars reach the decoder — rare but discriminative activations may be invisible.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400"/>
              <a:t>Evaluation is ground-truth-free: no neuron-level gold labels, so caption correctness is largely qualitative.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400"/>
              <a:t>Our own finding: the editing benefit depends on shortcut sparsity — at 50% overlay the shortcut pervades &gt;half the net and caption-guided ablation no longer separates from random.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360000"/>
            <a:ext cx="8520600" cy="840000"/>
          </a:xfrm>
        </p:spPr>
        <p:txBody>
          <a:bodyPr wrap="square" anchor="t"/>
          <a:lstStyle/>
          <a:p>
            <a:r>
              <a:rPr sz="2400"/>
              <a:t>Potential future 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300000"/>
            <a:ext cx="8520600" cy="3558000"/>
          </a:xfrm>
        </p:spPr>
        <p:txBody>
          <a:bodyPr wrap="square"/>
          <a:lstStyle/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400"/>
              <a:t>Embedding-based text-neuron detection: replace the regex with sentence-encoder similarity to catch synonyms/paraphrases.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400"/>
              <a:t>Graded edits: activation steering or low-rank shrinkage instead of zero-ablation — preserve capacity while removing the shortcut.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400"/>
              <a:t>Beyond top-k: condition the decoder on a fuller activation distribution to surface rare features.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400"/>
              <a:t>MILAN-for-transformers: extend to ViTs and LLM hidden states with shared adapters (start from our clip_glue.py).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400"/>
              <a:t>Harder spurious benchmarks: Waterbirds, CelebA, NICO — multi-axis spurious correlations beyond text overlay.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360000"/>
            <a:ext cx="8520600" cy="840000"/>
          </a:xfrm>
        </p:spPr>
        <p:txBody>
          <a:bodyPr wrap="square" anchor="t"/>
          <a:lstStyle/>
          <a:p>
            <a:r>
              <a:rPr sz="2400"/>
              <a:t>References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300000"/>
            <a:ext cx="8520600" cy="3558000"/>
          </a:xfrm>
        </p:spPr>
        <p:txBody>
          <a:bodyPr wrap="square"/>
          <a:lstStyle/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200"/>
              <a:t>[1] Hernandez, Schwettmann, Bau, Bagashvili, Oliva, Andreas. Natural Language Descriptions of Deep Visual Features. ICLR 2022. arXiv:2201.11114.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200"/>
              <a:t>[2] Bau, Zhou, Khosla, Oliva, Torralba. Network Dissection. CVPR 2017.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200"/>
              <a:t>[3] Kim et al. TCAV: Interpretability Beyond Feature Attribution. ICML 2018.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200"/>
              <a:t>[4] Oikarinen &amp; Weng. CLIP-Dissect. ICLR 2023.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200"/>
              <a:t>[5] Radford et al. Learning Transferable Visual Models from Natural Language Supervision (CLIP). ICML 2021.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200"/>
              <a:t>[6] Howard. Imagenette — github.com/fastai/imagenette.</a:t>
            </a:r>
          </a:p>
          <a:p>
            <a:pPr marL="285750" indent="-285750" lvl="0" algn="l">
              <a:spcBef>
                <a:spcPts val="0"/>
              </a:spcBef>
              <a:spcAft>
                <a:spcPts val="600"/>
              </a:spcAft>
              <a:buSzPts val="1500"/>
              <a:buChar char="●"/>
            </a:pPr>
            <a:r>
              <a:rPr sz="1200"/>
              <a:t>[7] Our repo: github.com/1minute99/DSC291_Research_Reproduction.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