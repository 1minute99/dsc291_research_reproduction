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83E306-45A2-4750-9AA0-96E671878A65}">
  <a:tblStyle styleId="{3083E306-45A2-4750-9AA0-96E671878A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2e302ed7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2e302ed7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246dd9cfb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246dd9cfb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f6324d6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1f6324d6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2ca7619c6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2ca7619c6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ca7619c6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2ca7619c6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MIP - mixed integer programming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46dd9cfb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246dd9cfb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2ca7619c6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2ca7619c6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2e568a388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2e568a388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246dd9cfb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246dd9cfb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1538206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e1538206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e15382063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e15382063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e15382063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e15382063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2f48a40f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2f48a40f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2f48a40f2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2f48a40f2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2f48a40f2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2f48a40f2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246dd9cfb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246dd9cfb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246dd9cfb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246dd9cfb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2f48a40f2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2f48a40f2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2f48a40f2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2f48a40f2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e568a388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2e568a388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e568a388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e568a388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2e568a388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2e568a388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2e568a388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2e568a388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2e568a388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2e568a388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cd16c0776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cd16c0776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246dd9cfb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246dd9cfb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cd16c077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cd16c077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cd16c0776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cd16c0776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ca7619c66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2ca7619c66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2e568a388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2e568a388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2e568a388e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2e568a388e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f34c584f79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f34c584f79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2f69c6f5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2f69c6f5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246dd9cfb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246dd9cfb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2e568a388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2e568a388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369600"/>
            <a:ext cx="1801751" cy="3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>
                <a:solidFill>
                  <a:schemeClr val="dk2"/>
                </a:solidFill>
              </a:defRPr>
            </a:lvl1pPr>
            <a:lvl2pPr lvl="1" rtl="0" algn="r">
              <a:buNone/>
              <a:defRPr>
                <a:solidFill>
                  <a:schemeClr val="dk2"/>
                </a:solidFill>
              </a:defRPr>
            </a:lvl2pPr>
            <a:lvl3pPr lvl="2" rtl="0" algn="r">
              <a:buNone/>
              <a:defRPr>
                <a:solidFill>
                  <a:schemeClr val="dk2"/>
                </a:solidFill>
              </a:defRPr>
            </a:lvl3pPr>
            <a:lvl4pPr lvl="3" rtl="0" algn="r">
              <a:buNone/>
              <a:defRPr>
                <a:solidFill>
                  <a:schemeClr val="dk2"/>
                </a:solidFill>
              </a:defRPr>
            </a:lvl4pPr>
            <a:lvl5pPr lvl="4" rtl="0" algn="r">
              <a:buNone/>
              <a:defRPr>
                <a:solidFill>
                  <a:schemeClr val="dk2"/>
                </a:solidFill>
              </a:defRPr>
            </a:lvl5pPr>
            <a:lvl6pPr lvl="5" rtl="0" algn="r">
              <a:buNone/>
              <a:defRPr>
                <a:solidFill>
                  <a:schemeClr val="dk2"/>
                </a:solidFill>
              </a:defRPr>
            </a:lvl6pPr>
            <a:lvl7pPr lvl="6" rtl="0" algn="r">
              <a:buNone/>
              <a:defRPr>
                <a:solidFill>
                  <a:schemeClr val="dk2"/>
                </a:solidFill>
              </a:defRPr>
            </a:lvl7pPr>
            <a:lvl8pPr lvl="7" rtl="0" algn="r">
              <a:buNone/>
              <a:defRPr>
                <a:solidFill>
                  <a:schemeClr val="dk2"/>
                </a:solidFill>
              </a:defRPr>
            </a:lvl8pPr>
            <a:lvl9pPr lvl="8" rtl="0" algn="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4774200"/>
            <a:ext cx="440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DSC 291/190 SP’26 Trustworthy Machine Learning</a:t>
            </a:r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gif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VITA-Group/Linearity-Grafting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robustbench.github.io/" TargetMode="External"/><Relationship Id="rId4" Type="http://schemas.openxmlformats.org/officeDocument/2006/relationships/hyperlink" Target="https://proceedings.neurips.cc/paper/2021/hash/9fd98f856d3ca2086168f264a117ed7c-Abstract.html" TargetMode="External"/><Relationship Id="rId5" Type="http://schemas.openxmlformats.org/officeDocument/2006/relationships/hyperlink" Target="https://openaccess.thecvf.com/content/CVPR2022/html/Zhang_On_Adversarial_Robustness_of_Trajectory_Prediction_for_Autonomous_Vehicles_CVPR_2022_paper.html" TargetMode="External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Certified Robustness of 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Deep Neural Networks</a:t>
            </a:r>
            <a:endParaRPr sz="48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12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 slides by DSC 291 SP24 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Akshay Kulkarni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04/16/2024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104525" y="3941425"/>
            <a:ext cx="89679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0" y="1629450"/>
            <a:ext cx="9144000" cy="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Paper [A]: Interval Bound Propagation for Training Verifiably Robust Models</a:t>
            </a:r>
            <a:endParaRPr sz="19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Paper [B]: Linearity Grafting: Relaxed Neuron Pruning Helps Certifiable Robustness</a:t>
            </a:r>
            <a:endParaRPr sz="1900"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132000" y="4242200"/>
            <a:ext cx="90120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/>
              <a:t>[A] Gowal et al., “On the Effectiveness of Interval Bound Propagation for Training Verifiably Robust Models”, </a:t>
            </a:r>
            <a:r>
              <a:rPr lang="en" sz="1200"/>
              <a:t>ICCV 20</a:t>
            </a:r>
            <a:r>
              <a:rPr lang="en" sz="1200"/>
              <a:t>19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/>
              <a:t>[B] Chen et al., “Linearity Grafting: Relaxed Neuron Pruning Helps Certifiable Robustness”, ICML 2022</a:t>
            </a:r>
            <a:endParaRPr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1: Introduction &amp; Motivation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4075" y="2544575"/>
            <a:ext cx="5839924" cy="25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Overview of the field: Certified Robustness </a:t>
            </a:r>
            <a:endParaRPr sz="25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Certified robustness region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radius around the input in which any perturbation will have NO misclassification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empirically robust models (FGSM/PGD-trained) are not certifiably robust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need specific training strategies to obtain certifiably robust models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425" y="2840392"/>
            <a:ext cx="2666775" cy="172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problem that this paper is trying to solve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7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 [A] - Interval Bound Propagation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Developing a fast method for training verifiably robust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While the ideas behind IBP are studied in prior works</a:t>
            </a:r>
            <a:r>
              <a:rPr baseline="30000" lang="en"/>
              <a:t>[1, 2]</a:t>
            </a:r>
            <a:endParaRPr baseline="300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it directly results in a difficult optimization problem with unstable performance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to stabilize the performance?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 [B] - Linearity Grafting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to obtain certifiably robust models without expensive certified robustness training?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2k to 3k epochs needed compared to 100-200 in empirically robust training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Similarities: both want to improve the efficiency of certified robustness training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Differences are in the approach of each paper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this problem important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Certified robustness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Existing empirical defenses (like those using FGSM/PGD) cannot find worst-case attacks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Cannot guarantee that brute force enumeration (MIP solvers) won’t break empirical defenses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Hence, we need </a:t>
            </a:r>
            <a:r>
              <a:rPr i="1" lang="en">
                <a:solidFill>
                  <a:srgbClr val="1155CC"/>
                </a:solidFill>
              </a:rPr>
              <a:t>formal verification</a:t>
            </a:r>
            <a:endParaRPr i="1">
              <a:solidFill>
                <a:srgbClr val="1155CC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provable guarantee that an NN is consistent with a specification for all possible inputs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Certified robustness as a prerequisite for deploying DNNs in the real-world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Empirically trained robust models are often found to not be certifiably robust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Existing certified robustness training methods are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Computationally expensive (much longer training than empirical adv. training)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tend to sacrifice clean accuracy for certified robustness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2: Related works</a:t>
            </a:r>
            <a:endParaRPr/>
          </a:p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existing approaches to solve this problem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Certified Robustness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Complete verifiers: Mixed-Integer-Linear-Program (MILP)</a:t>
            </a:r>
            <a:r>
              <a:rPr baseline="30000" lang="en"/>
              <a:t>[3, 4]</a:t>
            </a:r>
            <a:r>
              <a:rPr lang="en"/>
              <a:t>, B</a:t>
            </a:r>
            <a:r>
              <a:rPr lang="en"/>
              <a:t>ranch and Bound (BaB)</a:t>
            </a:r>
            <a:r>
              <a:rPr baseline="30000" lang="en"/>
              <a:t>[5, 6]</a:t>
            </a:r>
            <a:endParaRPr baseline="300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MILP-solver based → limited to very small models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BaB → uses an incomplete verifier iteratively as a sub-procedure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Incomplete verifiers: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Rely on duality</a:t>
            </a:r>
            <a:r>
              <a:rPr baseline="30000" lang="en"/>
              <a:t>[7, 8]</a:t>
            </a:r>
            <a:r>
              <a:rPr lang="en"/>
              <a:t>,  linear relaxations</a:t>
            </a:r>
            <a:r>
              <a:rPr baseline="30000" lang="en"/>
              <a:t>[9-11]</a:t>
            </a:r>
            <a:r>
              <a:rPr lang="en"/>
              <a:t>, or semidefinite relaxations</a:t>
            </a:r>
            <a:r>
              <a:rPr baseline="30000" lang="en"/>
              <a:t>[12, 13]</a:t>
            </a:r>
            <a:r>
              <a:rPr lang="en"/>
              <a:t> for fast verification</a:t>
            </a:r>
            <a:endParaRPr/>
          </a:p>
        </p:txBody>
      </p:sp>
      <p:graphicFrame>
        <p:nvGraphicFramePr>
          <p:cNvPr id="103" name="Google Shape;103;p20"/>
          <p:cNvGraphicFramePr/>
          <p:nvPr/>
        </p:nvGraphicFramePr>
        <p:xfrm>
          <a:off x="966775" y="31106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{3083E306-45A2-4750-9AA0-96E671878A65}</a:tableStyleId>
              </a:tblPr>
              <a:tblGrid>
                <a:gridCol w="2022525"/>
                <a:gridCol w="2773425"/>
                <a:gridCol w="2414500"/>
              </a:tblGrid>
              <a:tr h="16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Method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Pros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Cons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6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Complete Verifiers </a:t>
                      </a:r>
                      <a:r>
                        <a:rPr baseline="30000" lang="en">
                          <a:solidFill>
                            <a:srgbClr val="434343"/>
                          </a:solidFill>
                        </a:rPr>
                        <a:t>[3-6]</a:t>
                      </a:r>
                      <a:endParaRPr baseline="300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Tighter bounds of 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certified robustness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Expensive; cannot scale to practically used model arch.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6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Incomplete Verifiers</a:t>
                      </a:r>
                      <a:r>
                        <a:rPr baseline="30000" lang="en">
                          <a:solidFill>
                            <a:srgbClr val="434343"/>
                          </a:solidFill>
                        </a:rPr>
                        <a:t>[7-13]</a:t>
                      </a:r>
                      <a:endParaRPr baseline="300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Fast, can be used in training</a:t>
                      </a:r>
                      <a:r>
                        <a:rPr baseline="30000" lang="en">
                          <a:solidFill>
                            <a:srgbClr val="434343"/>
                          </a:solidFill>
                        </a:rPr>
                        <a:t>[14, 15]</a:t>
                      </a:r>
                      <a:endParaRPr baseline="300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Weaker bounds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existing approaches to solve this problem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Pruning</a:t>
            </a:r>
            <a:r>
              <a:rPr lang="en"/>
              <a:t> </a:t>
            </a:r>
            <a:r>
              <a:rPr lang="en" sz="1400"/>
              <a:t>(used in Paper [B])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Compression by</a:t>
            </a:r>
            <a:r>
              <a:rPr lang="en"/>
              <a:t> eliminating redundancy in over-parameterized NNs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Unstructured </a:t>
            </a:r>
            <a:r>
              <a:rPr lang="en"/>
              <a:t>pruning</a:t>
            </a:r>
            <a:r>
              <a:rPr baseline="30000" lang="en"/>
              <a:t>[14]</a:t>
            </a:r>
            <a:r>
              <a:rPr lang="en"/>
              <a:t>: zero out insignificant parameters based on some heuristics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Structured pruning</a:t>
            </a:r>
            <a:r>
              <a:rPr baseline="30000" lang="en"/>
              <a:t>[15]</a:t>
            </a:r>
            <a:r>
              <a:rPr lang="en"/>
              <a:t>: discard sub-structures (eg. layers or channels) based on heuristics</a:t>
            </a:r>
            <a:endParaRPr/>
          </a:p>
          <a:p>
            <a:pPr indent="0" lvl="0" marL="0" rtl="0" algn="l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Pruning for Robustness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HYDRA</a:t>
            </a:r>
            <a:r>
              <a:rPr baseline="30000" lang="en"/>
              <a:t>[16]</a:t>
            </a:r>
            <a:r>
              <a:rPr lang="en"/>
              <a:t>: Prune a network using robustness objectives to preserve robustness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Stochastic Activation Pruning (SAP)</a:t>
            </a:r>
            <a:r>
              <a:rPr baseline="30000" lang="en"/>
              <a:t>[17]</a:t>
            </a:r>
            <a:r>
              <a:rPr lang="en"/>
              <a:t>:</a:t>
            </a:r>
            <a:r>
              <a:rPr baseline="30000" lang="en"/>
              <a:t> </a:t>
            </a:r>
            <a:r>
              <a:rPr lang="en"/>
              <a:t>Randomly drop less-activating neurons</a:t>
            </a:r>
            <a:endParaRPr/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522550" y="33472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{3083E306-45A2-4750-9AA0-96E671878A65}</a:tableStyleId>
              </a:tblPr>
              <a:tblGrid>
                <a:gridCol w="1112875"/>
                <a:gridCol w="2863675"/>
                <a:gridCol w="4122350"/>
              </a:tblGrid>
              <a:tr h="17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Method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Pros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Cons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5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HYDRA</a:t>
                      </a:r>
                      <a:r>
                        <a:rPr baseline="30000" lang="en">
                          <a:solidFill>
                            <a:srgbClr val="434343"/>
                          </a:solidFill>
                        </a:rPr>
                        <a:t>[16]</a:t>
                      </a:r>
                      <a:endParaRPr baseline="300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Works for non-robust, empirically and certifiably robust models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Expensive since already trained model has to be retrained with pruning and robustness objectives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7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SAP</a:t>
                      </a:r>
                      <a:r>
                        <a:rPr baseline="30000" lang="en">
                          <a:solidFill>
                            <a:srgbClr val="434343"/>
                          </a:solidFill>
                        </a:rPr>
                        <a:t>[17]</a:t>
                      </a:r>
                      <a:endParaRPr baseline="300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Simple and efficient</a:t>
                      </a:r>
                      <a:endParaRPr baseline="300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</a:rPr>
                        <a:t>Only empirical defense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3: Main methods</a:t>
            </a:r>
            <a:endParaRPr/>
          </a:p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[A] - IBP)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Preliminaries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Specification of certified robustness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network output should not change for all inputs around the original input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Mathematically,</a:t>
            </a:r>
            <a:endParaRPr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vector c and scalar d are related to the true label and the original input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Intuitively, considering this as a binary classifier boundary, the decision should not change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100" y="1627975"/>
            <a:ext cx="7005973" cy="8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8763" y="3307175"/>
            <a:ext cx="2646476" cy="2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[A] - IBP)</a:t>
            </a:r>
            <a:endParaRPr/>
          </a:p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311700" y="923875"/>
            <a:ext cx="8832300" cy="3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Verification specification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Model output should not change for a set of inputs around some point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Interval bound propagation (IBP)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IBP aims to find an </a:t>
            </a:r>
            <a:r>
              <a:rPr lang="en">
                <a:solidFill>
                  <a:srgbClr val="1155CC"/>
                </a:solidFill>
              </a:rPr>
              <a:t>upper bound</a:t>
            </a:r>
            <a:r>
              <a:rPr lang="en">
                <a:solidFill>
                  <a:srgbClr val="595959"/>
                </a:solidFill>
              </a:rPr>
              <a:t> on the above specification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If upper bound is negative ⇒ model is certifably robust for that sample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This is because upper bound is the highest possible value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How to find the upper bound? → bound the activations at each layer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Use closed form solutions for the bounds of neurons at each layer using the bounds of prev. layer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Bound at input is the allowable perturbation </a:t>
            </a:r>
            <a:r>
              <a:rPr lang="en" sz="1600">
                <a:solidFill>
                  <a:srgbClr val="595959"/>
                </a:solidFill>
              </a:rPr>
              <a:t>𝜖</a:t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763" y="1564833"/>
            <a:ext cx="2646476" cy="2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1225" y="3494949"/>
            <a:ext cx="3295650" cy="15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[A] - IBP)</a:t>
            </a:r>
            <a:endParaRPr/>
          </a:p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311700" y="1152475"/>
            <a:ext cx="8832300" cy="3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Training certifiably robust models with IBP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rgbClr val="1155CC"/>
                </a:solidFill>
              </a:rPr>
              <a:t>Novelty</a:t>
            </a:r>
            <a:r>
              <a:rPr lang="en">
                <a:solidFill>
                  <a:schemeClr val="dk2"/>
                </a:solidFill>
              </a:rPr>
              <a:t>:</a:t>
            </a:r>
            <a:r>
              <a:rPr lang="en">
                <a:solidFill>
                  <a:schemeClr val="dk2"/>
                </a:solidFill>
              </a:rPr>
              <a:t> specification loss → CE loss b/w worst-case logits and true class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Worst-case logits obtained using the propagated bounds</a:t>
            </a:r>
            <a:endParaRPr>
              <a:solidFill>
                <a:schemeClr val="dk2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>
                <a:solidFill>
                  <a:schemeClr val="dk2"/>
                </a:solidFill>
              </a:rPr>
              <a:t>True class gets lower bound value, all other classes get upper bound value</a:t>
            </a:r>
            <a:endParaRPr>
              <a:solidFill>
                <a:schemeClr val="dk2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>
                <a:solidFill>
                  <a:schemeClr val="dk2"/>
                </a:solidFill>
              </a:rPr>
              <a:t>In the worst case, all classes other than true class have maximum activations (upper bound)</a:t>
            </a:r>
            <a:endParaRPr>
              <a:solidFill>
                <a:schemeClr val="dk2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>
                <a:solidFill>
                  <a:schemeClr val="dk2"/>
                </a:solidFill>
              </a:rPr>
              <a:t>Why this loss? Minimizes upper bound and maximizes lower bound (tighter bounds)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Overall loss → convex combination of usual data fitting loss (CE loss) and specification loss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Training procedure</a:t>
            </a:r>
            <a:endParaRPr sz="1800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Start with K=1 and decay it to 0.5 for a good balance between satisfying specification &amp; fitting data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Start with </a:t>
            </a:r>
            <a:r>
              <a:rPr lang="en" sz="1600">
                <a:solidFill>
                  <a:schemeClr val="dk2"/>
                </a:solidFill>
              </a:rPr>
              <a:t>𝜖</a:t>
            </a:r>
            <a:r>
              <a:rPr lang="en">
                <a:solidFill>
                  <a:schemeClr val="dk2"/>
                </a:solidFill>
              </a:rPr>
              <a:t>=0 and gradually increase to actual perturbation radius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162" y="3075842"/>
            <a:ext cx="3733675" cy="6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Key ideas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[B] - Linearity Grafting)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6"/>
          <p:cNvSpPr txBox="1"/>
          <p:nvPr/>
        </p:nvSpPr>
        <p:spPr>
          <a:xfrm>
            <a:off x="311700" y="1152475"/>
            <a:ext cx="85206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High-level ideas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Non-linearity causes difficulty in certifying the robustness (also shown in prev. </a:t>
            </a:r>
            <a:r>
              <a:rPr lang="en">
                <a:solidFill>
                  <a:srgbClr val="595959"/>
                </a:solidFill>
              </a:rPr>
              <a:t>w</a:t>
            </a:r>
            <a:r>
              <a:rPr lang="en">
                <a:solidFill>
                  <a:srgbClr val="595959"/>
                </a:solidFill>
              </a:rPr>
              <a:t>orks)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Linearity is desirable, and </a:t>
            </a:r>
            <a:r>
              <a:rPr lang="en">
                <a:solidFill>
                  <a:srgbClr val="1155CC"/>
                </a:solidFill>
              </a:rPr>
              <a:t>sparsity is a special case of linearity</a:t>
            </a:r>
            <a:endParaRPr>
              <a:solidFill>
                <a:srgbClr val="1155CC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Proposed method (high-level)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Input: Adversarially pretrained robust model, corresponding labeled dataset (like CIFAR10)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Linearize unstable and insignificant neurons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</a:pPr>
            <a:r>
              <a:rPr lang="en">
                <a:solidFill>
                  <a:srgbClr val="595959"/>
                </a:solidFill>
              </a:rPr>
              <a:t>First, rank neurons based on stability and significance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</a:pPr>
            <a:r>
              <a:rPr lang="en">
                <a:solidFill>
                  <a:srgbClr val="595959"/>
                </a:solidFill>
              </a:rPr>
              <a:t>Replace ReLU w/ linear activation (but with trainable affine parameters)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AutoNum type="arabicPeriod"/>
            </a:pPr>
            <a:r>
              <a:rPr lang="en">
                <a:solidFill>
                  <a:srgbClr val="595959"/>
                </a:solidFill>
              </a:rPr>
              <a:t>Finetune entire model to restore performance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Result: Model with improved verified accuracy (but with drop in standard and robust acc.)</a:t>
            </a:r>
            <a:endParaRPr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Novelty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Efficiently training a verifiably robust model w/o a certifiable loss (expensive) at training time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[B] - Linearity Grafting)</a:t>
            </a:r>
            <a:endParaRPr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311700" y="11524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Unstable neurons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Mainly focusing on non-linear ReLU activations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If the input to ReLU is always negative or always positive → stable neuron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Formally, lower bound of input should be positive or upper bound should be negative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If input to ReLU is sometimes negative, sometimes positive → unstable neuron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Formally, lower bound of input is negative and upper bound is positive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Rank all neurons by no. of images for which it is unstable, normalized rank is instability score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Insignificant neurons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Rank neurons by activation magnitude, or gradient magnitude, or learned importance scores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Unstable and insignificant neurons → 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     </a:t>
            </a:r>
            <a:r>
              <a:rPr lang="en">
                <a:solidFill>
                  <a:srgbClr val="595959"/>
                </a:solidFill>
              </a:rPr>
              <a:t>i</a:t>
            </a:r>
            <a:r>
              <a:rPr lang="en">
                <a:solidFill>
                  <a:srgbClr val="595959"/>
                </a:solidFill>
              </a:rPr>
              <a:t>s the </a:t>
            </a:r>
            <a:r>
              <a:rPr lang="en">
                <a:solidFill>
                  <a:srgbClr val="595959"/>
                </a:solidFill>
              </a:rPr>
              <a:t>instability</a:t>
            </a:r>
            <a:r>
              <a:rPr lang="en">
                <a:solidFill>
                  <a:srgbClr val="595959"/>
                </a:solidFill>
              </a:rPr>
              <a:t> score,       is the significance score</a:t>
            </a:r>
            <a:endParaRPr>
              <a:solidFill>
                <a:srgbClr val="595959"/>
              </a:solidFill>
            </a:endParaRPr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725" y="4157744"/>
            <a:ext cx="38671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9069" y="4558700"/>
            <a:ext cx="162275" cy="1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7369" y="4558700"/>
            <a:ext cx="142481" cy="1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ideas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[B] - Linearity Grafting)</a:t>
            </a:r>
            <a:endParaRPr/>
          </a:p>
        </p:txBody>
      </p:sp>
      <p:sp>
        <p:nvSpPr>
          <p:cNvPr id="164" name="Google Shape;164;p28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8"/>
          <p:cNvSpPr txBox="1"/>
          <p:nvPr/>
        </p:nvSpPr>
        <p:spPr>
          <a:xfrm>
            <a:off x="311700" y="1152475"/>
            <a:ext cx="8520600" cy="16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Linearize and finetune grafted activations</a:t>
            </a:r>
            <a:endParaRPr sz="1800"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Only </a:t>
            </a:r>
            <a:r>
              <a:rPr lang="en">
                <a:solidFill>
                  <a:srgbClr val="1155CC"/>
                </a:solidFill>
              </a:rPr>
              <a:t>unstable and insignificant neurons</a:t>
            </a:r>
            <a:r>
              <a:rPr lang="en">
                <a:solidFill>
                  <a:srgbClr val="595959"/>
                </a:solidFill>
              </a:rPr>
              <a:t> get a linear activation function instead of ReLU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Finetune new parameters a, b for 100 epochs with lower LR (0.01 instead of original 0.1)</a:t>
            </a:r>
            <a:endParaRPr>
              <a:solidFill>
                <a:srgbClr val="595959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■"/>
            </a:pPr>
            <a:r>
              <a:rPr lang="en">
                <a:solidFill>
                  <a:srgbClr val="595959"/>
                </a:solidFill>
              </a:rPr>
              <a:t>Objective is same as Fast Adv. Training</a:t>
            </a:r>
            <a:r>
              <a:rPr baseline="30000" lang="en">
                <a:solidFill>
                  <a:srgbClr val="595959"/>
                </a:solidFill>
              </a:rPr>
              <a:t>[19]</a:t>
            </a:r>
            <a:r>
              <a:rPr lang="en">
                <a:solidFill>
                  <a:srgbClr val="595959"/>
                </a:solidFill>
              </a:rPr>
              <a:t> (which was the pretrained initialization)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In some experiments, all other weights are also finetuned (LR even lower at 0.001)</a:t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166" name="Google Shape;166;p28"/>
          <p:cNvGrpSpPr/>
          <p:nvPr/>
        </p:nvGrpSpPr>
        <p:grpSpPr>
          <a:xfrm>
            <a:off x="3433678" y="2571761"/>
            <a:ext cx="3648241" cy="2571527"/>
            <a:chOff x="2633075" y="2437075"/>
            <a:chExt cx="3839446" cy="2706300"/>
          </a:xfrm>
        </p:grpSpPr>
        <p:pic>
          <p:nvPicPr>
            <p:cNvPr id="167" name="Google Shape;167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71471" y="2437075"/>
              <a:ext cx="3801050" cy="270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8"/>
            <p:cNvSpPr/>
            <p:nvPr/>
          </p:nvSpPr>
          <p:spPr>
            <a:xfrm>
              <a:off x="2633075" y="2559475"/>
              <a:ext cx="98100" cy="31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4: Experiment</a:t>
            </a:r>
            <a:endParaRPr/>
          </a:p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E</a:t>
            </a:r>
            <a:r>
              <a:rPr lang="en" sz="2500"/>
              <a:t>xperimental setup</a:t>
            </a:r>
            <a:endParaRPr sz="2500"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datasets/benchmarks?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MNIST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50k training images, 10k test images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 digit classes (0 to 9)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CIFAR10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50k training images, 10k test images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 object classes (e.g. airplane, automobile, bird, cat, etc.)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SVHN (Street View House Numbers)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~73k training images, ~26k test images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10 digit classes (0 to 9)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Difference w.r.t. MNIST → color images and each image may contain multiple digits</a:t>
            </a:r>
            <a:endParaRPr/>
          </a:p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Experimental setup</a:t>
            </a:r>
            <a:endParaRPr sz="2500"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baselines methods that this paper compared with?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1155CC"/>
                </a:solidFill>
              </a:rPr>
              <a:t>Paper [A]</a:t>
            </a:r>
            <a:endParaRPr>
              <a:solidFill>
                <a:srgbClr val="1155CC"/>
              </a:solidFill>
            </a:endParaRPr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Dvijotham et al. [2] → Trains a verifier n/w to predict bounds, concurrent to verification training</a:t>
            </a:r>
            <a:endParaRPr/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Wong et al. [20] → Estimate upper bound via the dual problem of the verification LP</a:t>
            </a:r>
            <a:endParaRPr/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Xiao et al. [21] → Regularizer to reduce the number of </a:t>
            </a:r>
            <a:r>
              <a:rPr lang="en"/>
              <a:t>ambiguous</a:t>
            </a:r>
            <a:r>
              <a:rPr lang="en"/>
              <a:t> ReLU neurons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1155CC"/>
                </a:solidFill>
              </a:rPr>
              <a:t>Paper [B]</a:t>
            </a:r>
            <a:endParaRPr/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Baseline (FAT</a:t>
            </a:r>
            <a:r>
              <a:rPr baseline="30000" lang="en"/>
              <a:t>[19]</a:t>
            </a:r>
            <a:r>
              <a:rPr lang="en"/>
              <a:t>) → R-FGSM based adversarial training (no certified training)</a:t>
            </a:r>
            <a:endParaRPr/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Stochastic Activation Pruning</a:t>
            </a:r>
            <a:r>
              <a:rPr baseline="30000" lang="en"/>
              <a:t>[17]</a:t>
            </a:r>
            <a:r>
              <a:rPr lang="en"/>
              <a:t> → Prunes activations with the least magnitude</a:t>
            </a:r>
            <a:endParaRPr/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Gradient-based Activation Pruning</a:t>
            </a:r>
            <a:r>
              <a:rPr baseline="30000" lang="en"/>
              <a:t>[22]</a:t>
            </a:r>
            <a:r>
              <a:rPr lang="en"/>
              <a:t> → Activation gradients used as heuristic for pruning</a:t>
            </a:r>
            <a:endParaRPr/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HYDRA</a:t>
            </a:r>
            <a:r>
              <a:rPr baseline="30000" lang="en"/>
              <a:t>[16]</a:t>
            </a:r>
            <a:r>
              <a:rPr lang="en"/>
              <a:t> → Learns sparse activation maps</a:t>
            </a:r>
            <a:endParaRPr/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Random grafting → randomly selecting neurons instead of using the proposed metrics</a:t>
            </a:r>
            <a:endParaRPr/>
          </a:p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Experimental setup</a:t>
            </a:r>
            <a:endParaRPr sz="2500"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evaluation metrics?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Standard accuracy → Accuracy on original (unmodified)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Robust accuracy → </a:t>
            </a:r>
            <a:r>
              <a:rPr lang="en"/>
              <a:t>Empirical</a:t>
            </a:r>
            <a:r>
              <a:rPr lang="en"/>
              <a:t> robustness measure (computed using PGD100 attacked samples)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Verified accuracy</a:t>
            </a:r>
            <a:endParaRPr/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Paper [A] uses a solver for the MIP formulation</a:t>
            </a:r>
            <a:r>
              <a:rPr baseline="30000" lang="en"/>
              <a:t>[3]</a:t>
            </a:r>
            <a:endParaRPr baseline="30000"/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Paper [B] uses 𝛼,𝛽-CROWN</a:t>
            </a:r>
            <a:r>
              <a:rPr baseline="30000" lang="en"/>
              <a:t>[18]</a:t>
            </a:r>
            <a:r>
              <a:rPr lang="en"/>
              <a:t> (recent SOTA verifier)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most important metric is verified accuracy (which indicates the success of the method)</a:t>
            </a:r>
            <a:endParaRPr/>
          </a:p>
          <a:p>
            <a:pPr indent="-317500" lvl="2" marL="12573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Standard accuracy is also </a:t>
            </a:r>
            <a:r>
              <a:rPr lang="en"/>
              <a:t>important</a:t>
            </a:r>
            <a:r>
              <a:rPr lang="en"/>
              <a:t> since most inputs in practice will be standard samples</a:t>
            </a:r>
            <a:endParaRPr/>
          </a:p>
        </p:txBody>
      </p:sp>
      <p:sp>
        <p:nvSpPr>
          <p:cNvPr id="195" name="Google Shape;195;p32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results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[A] - IBP)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11700" y="1152475"/>
            <a:ext cx="8832300" cy="38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Benchmark results (CIFAR10)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Improved verified error and PGD error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Drop in standard test error (tradeoff)</a:t>
            </a:r>
            <a:endParaRPr/>
          </a:p>
        </p:txBody>
      </p:sp>
      <p:grpSp>
        <p:nvGrpSpPr>
          <p:cNvPr id="202" name="Google Shape;202;p33"/>
          <p:cNvGrpSpPr/>
          <p:nvPr/>
        </p:nvGrpSpPr>
        <p:grpSpPr>
          <a:xfrm>
            <a:off x="1918157" y="2096951"/>
            <a:ext cx="5307681" cy="2619793"/>
            <a:chOff x="1711125" y="2259536"/>
            <a:chExt cx="5842890" cy="2883964"/>
          </a:xfrm>
        </p:grpSpPr>
        <p:pic>
          <p:nvPicPr>
            <p:cNvPr id="203" name="Google Shape;203;p33"/>
            <p:cNvPicPr preferRelativeResize="0"/>
            <p:nvPr/>
          </p:nvPicPr>
          <p:blipFill rotWithShape="1">
            <a:blip r:embed="rId3">
              <a:alphaModFix/>
            </a:blip>
            <a:srcRect b="0" l="0" r="0" t="1536"/>
            <a:stretch/>
          </p:blipFill>
          <p:spPr>
            <a:xfrm>
              <a:off x="1711125" y="2513025"/>
              <a:ext cx="5785650" cy="2630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43091" y="2259536"/>
              <a:ext cx="5810924" cy="239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results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[A] - IBP)</a:t>
            </a:r>
            <a:endParaRPr/>
          </a:p>
        </p:txBody>
      </p: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311700" y="1152475"/>
            <a:ext cx="8832300" cy="38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Tightness of IBP verified bounds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Bounds are looser at lower epsilon but close to the MIP bounds</a:t>
            </a:r>
            <a:endParaRPr/>
          </a:p>
        </p:txBody>
      </p:sp>
      <p:pic>
        <p:nvPicPr>
          <p:cNvPr id="211" name="Google Shape;21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162" y="2213854"/>
            <a:ext cx="5055375" cy="235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results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[B] - Linearity Grafting)</a:t>
            </a:r>
            <a:endParaRPr/>
          </a:p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311700" y="1152475"/>
            <a:ext cx="8667600" cy="27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Evaluation of certified robustness with 𝛼,𝛽-CROWN</a:t>
            </a:r>
            <a:r>
              <a:rPr baseline="30000" lang="en"/>
              <a:t>[18]</a:t>
            </a:r>
            <a:r>
              <a:rPr lang="en"/>
              <a:t> (SOTA complete verifier)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reduce no. of unstable neurons (UNR)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Correlated with improvement in certified robustness or verified accuracy (VA)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Empirical robustness (RA) &amp; standard acc. (SA) drops w.r.t. baseline but better than prior arts</a:t>
            </a:r>
            <a:endParaRPr/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136" y="2492000"/>
            <a:ext cx="4715725" cy="22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results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[B] - Linearity Grafting)</a:t>
            </a:r>
            <a:endParaRPr/>
          </a:p>
        </p:txBody>
      </p:sp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311700" y="1152475"/>
            <a:ext cx="8520600" cy="27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Ablation on selection criteria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significance criteria most preserves empirical robustness (RA) &amp; standard acc. (SA)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RA, SA drops slightly w.r.t. baseline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unstable criteria is good enough for VA but combination improves standard acc. (SA)</a:t>
            </a:r>
            <a:endParaRPr/>
          </a:p>
        </p:txBody>
      </p:sp>
      <p:grpSp>
        <p:nvGrpSpPr>
          <p:cNvPr id="225" name="Google Shape;225;p36"/>
          <p:cNvGrpSpPr/>
          <p:nvPr/>
        </p:nvGrpSpPr>
        <p:grpSpPr>
          <a:xfrm>
            <a:off x="2391427" y="2489537"/>
            <a:ext cx="4361146" cy="2097313"/>
            <a:chOff x="2015700" y="2579345"/>
            <a:chExt cx="5128950" cy="2466557"/>
          </a:xfrm>
        </p:grpSpPr>
        <p:pic>
          <p:nvPicPr>
            <p:cNvPr id="226" name="Google Shape;226;p36"/>
            <p:cNvPicPr preferRelativeResize="0"/>
            <p:nvPr/>
          </p:nvPicPr>
          <p:blipFill rotWithShape="1">
            <a:blip r:embed="rId3">
              <a:alphaModFix/>
            </a:blip>
            <a:srcRect b="0" l="0" r="0" t="47385"/>
            <a:stretch/>
          </p:blipFill>
          <p:spPr>
            <a:xfrm>
              <a:off x="2015700" y="3874077"/>
              <a:ext cx="5112599" cy="117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36"/>
            <p:cNvPicPr preferRelativeResize="0"/>
            <p:nvPr/>
          </p:nvPicPr>
          <p:blipFill rotWithShape="1">
            <a:blip r:embed="rId3">
              <a:alphaModFix/>
            </a:blip>
            <a:srcRect b="52231" l="0" r="0" t="0"/>
            <a:stretch/>
          </p:blipFill>
          <p:spPr>
            <a:xfrm>
              <a:off x="2015700" y="2579345"/>
              <a:ext cx="5112599" cy="1063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36"/>
            <p:cNvPicPr preferRelativeResize="0"/>
            <p:nvPr/>
          </p:nvPicPr>
          <p:blipFill rotWithShape="1">
            <a:blip r:embed="rId4">
              <a:alphaModFix/>
            </a:blip>
            <a:srcRect b="0" l="0" r="20767" t="19035"/>
            <a:stretch/>
          </p:blipFill>
          <p:spPr>
            <a:xfrm>
              <a:off x="4808225" y="3628795"/>
              <a:ext cx="2336425" cy="217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74064" y="3612440"/>
              <a:ext cx="2831982" cy="2170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0" name="Google Shape;230;p36"/>
            <p:cNvCxnSpPr/>
            <p:nvPr/>
          </p:nvCxnSpPr>
          <p:spPr>
            <a:xfrm>
              <a:off x="2134275" y="3859670"/>
              <a:ext cx="48981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results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[B] - Linearity Grafting)</a:t>
            </a:r>
            <a:endParaRPr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311700" y="1152475"/>
            <a:ext cx="8520600" cy="27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Ablation on significance measures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GAP performs the best (except at 90% sparsity where learned scores of HYDRA are better)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Interestingly, random pruning is better than activation based pruning at higher sparsities</a:t>
            </a:r>
            <a:endParaRPr/>
          </a:p>
        </p:txBody>
      </p:sp>
      <p:pic>
        <p:nvPicPr>
          <p:cNvPr id="237" name="Google Shape;237;p37"/>
          <p:cNvPicPr preferRelativeResize="0"/>
          <p:nvPr/>
        </p:nvPicPr>
        <p:blipFill rotWithShape="1">
          <a:blip r:embed="rId3">
            <a:alphaModFix/>
          </a:blip>
          <a:srcRect b="0" l="0" r="0" t="48946"/>
          <a:stretch/>
        </p:blipFill>
        <p:spPr>
          <a:xfrm>
            <a:off x="4496390" y="2785438"/>
            <a:ext cx="4614646" cy="15623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37"/>
          <p:cNvGrpSpPr/>
          <p:nvPr/>
        </p:nvGrpSpPr>
        <p:grpSpPr>
          <a:xfrm>
            <a:off x="32969" y="2750353"/>
            <a:ext cx="4463248" cy="1612435"/>
            <a:chOff x="4445425" y="2236850"/>
            <a:chExt cx="3453724" cy="1247725"/>
          </a:xfrm>
        </p:grpSpPr>
        <p:pic>
          <p:nvPicPr>
            <p:cNvPr id="239" name="Google Shape;239;p37"/>
            <p:cNvPicPr preferRelativeResize="0"/>
            <p:nvPr/>
          </p:nvPicPr>
          <p:blipFill rotWithShape="1">
            <a:blip r:embed="rId3">
              <a:alphaModFix/>
            </a:blip>
            <a:srcRect b="50568" l="0" r="0" t="0"/>
            <a:stretch/>
          </p:blipFill>
          <p:spPr>
            <a:xfrm>
              <a:off x="4445425" y="2236850"/>
              <a:ext cx="3453724" cy="1132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37"/>
            <p:cNvPicPr preferRelativeResize="0"/>
            <p:nvPr/>
          </p:nvPicPr>
          <p:blipFill rotWithShape="1">
            <a:blip r:embed="rId3">
              <a:alphaModFix/>
            </a:blip>
            <a:srcRect b="0" l="0" r="0" t="94061"/>
            <a:stretch/>
          </p:blipFill>
          <p:spPr>
            <a:xfrm>
              <a:off x="4445425" y="3348550"/>
              <a:ext cx="3453724" cy="136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reproduction (BONUS)</a:t>
            </a:r>
            <a:r>
              <a:rPr lang="en" sz="1550">
                <a:solidFill>
                  <a:srgbClr val="1155CC"/>
                </a:solidFill>
              </a:rPr>
              <a:t> - Paper [B]</a:t>
            </a:r>
            <a:endParaRPr/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311700" y="1152475"/>
            <a:ext cx="8520600" cy="27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Started with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official GitHub repository</a:t>
            </a:r>
            <a:r>
              <a:rPr lang="en"/>
              <a:t> from the authors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Setup python environment as per their instructions (fairly straightforward, no issues)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Reproduced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Trained baseline and linearity-grafting based CNN-B models with Fast Adversarial Training</a:t>
            </a:r>
            <a:r>
              <a:rPr baseline="30000" lang="en"/>
              <a:t>[19]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Observations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Almost same robust accuracy (PGD-100), higher standard accuracy with grafting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Verified accuracy is significantly lower (takes very long to run, ~12 hrs for 1000 samples)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Verified acc. could be improved if std. acc. reduces (tradeoff) with some tuning</a:t>
            </a:r>
            <a:endParaRPr/>
          </a:p>
        </p:txBody>
      </p:sp>
      <p:sp>
        <p:nvSpPr>
          <p:cNvPr id="247" name="Google Shape;247;p38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48" name="Google Shape;248;p38"/>
          <p:cNvGraphicFramePr/>
          <p:nvPr/>
        </p:nvGraphicFramePr>
        <p:xfrm>
          <a:off x="1703125" y="371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{3083E306-45A2-4750-9AA0-96E671878A65}</a:tableStyleId>
              </a:tblPr>
              <a:tblGrid>
                <a:gridCol w="1044075"/>
                <a:gridCol w="1631450"/>
                <a:gridCol w="1066400"/>
                <a:gridCol w="1119425"/>
                <a:gridCol w="1008250"/>
              </a:tblGrid>
              <a:tr h="1968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CNN-B on CIFAR10, 𝜖 = 2/255</a:t>
                      </a:r>
                      <a:endParaRPr sz="1200"/>
                    </a:p>
                  </a:txBody>
                  <a:tcPr marT="0" marB="0" marR="0" marL="91425" anchor="ctr"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Std. Acc.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PGD100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Verified Acc.</a:t>
                      </a:r>
                      <a:endParaRPr sz="1200"/>
                    </a:p>
                  </a:txBody>
                  <a:tcPr marT="0" marB="0" marR="0" marL="0" anchor="ctr">
                    <a:solidFill>
                      <a:srgbClr val="EFEFEF"/>
                    </a:solidFill>
                  </a:tcPr>
                </a:tc>
              </a:tr>
              <a:tr h="1968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Reported</a:t>
                      </a:r>
                      <a:endParaRPr sz="1200"/>
                    </a:p>
                  </a:txBody>
                  <a:tcPr marT="0" marB="0" marR="0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Baseline</a:t>
                      </a:r>
                      <a:endParaRPr sz="1200"/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79.95</a:t>
                      </a:r>
                      <a:endParaRPr sz="1200"/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62.23</a:t>
                      </a:r>
                      <a:endParaRPr sz="1200"/>
                    </a:p>
                  </a:txBody>
                  <a:tcPr marT="0" marB="0" marR="0" marL="914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37.40</a:t>
                      </a:r>
                      <a:endParaRPr sz="1200"/>
                    </a:p>
                  </a:txBody>
                  <a:tcPr marT="0" marB="0" marR="0" marL="91425" anchor="ctr">
                    <a:solidFill>
                      <a:srgbClr val="CFE2F3"/>
                    </a:solidFill>
                  </a:tcPr>
                </a:tc>
              </a:tr>
              <a:tr h="1968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   + Linearity Grafting</a:t>
                      </a:r>
                      <a:endParaRPr sz="1200"/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74.08</a:t>
                      </a:r>
                      <a:endParaRPr sz="1200"/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58.76</a:t>
                      </a:r>
                      <a:endParaRPr sz="1200"/>
                    </a:p>
                  </a:txBody>
                  <a:tcPr marT="0" marB="0" marR="0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50.40</a:t>
                      </a:r>
                      <a:endParaRPr sz="1200"/>
                    </a:p>
                  </a:txBody>
                  <a:tcPr marT="0" marB="0" marR="0" marL="91425" anchor="ctr">
                    <a:solidFill>
                      <a:srgbClr val="D9EAD3"/>
                    </a:solidFill>
                  </a:tcPr>
                </a:tc>
              </a:tr>
              <a:tr h="1968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Reproduced</a:t>
                      </a:r>
                      <a:endParaRPr sz="1200"/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Baseline</a:t>
                      </a:r>
                      <a:endParaRPr sz="1200"/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79.63 </a:t>
                      </a:r>
                      <a:r>
                        <a:rPr lang="en" sz="1200">
                          <a:solidFill>
                            <a:srgbClr val="CC0000"/>
                          </a:solidFill>
                        </a:rPr>
                        <a:t>(-0.32)</a:t>
                      </a:r>
                      <a:endParaRPr sz="1200">
                        <a:solidFill>
                          <a:srgbClr val="CC0000"/>
                        </a:solidFill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62.36 </a:t>
                      </a:r>
                      <a:r>
                        <a:rPr lang="en" sz="1200">
                          <a:solidFill>
                            <a:srgbClr val="38761D"/>
                          </a:solidFill>
                        </a:rPr>
                        <a:t>(+0.13)</a:t>
                      </a:r>
                      <a:endParaRPr sz="1200">
                        <a:solidFill>
                          <a:srgbClr val="38761D"/>
                        </a:solidFill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37.30 </a:t>
                      </a:r>
                      <a:r>
                        <a:rPr lang="en" sz="1200">
                          <a:solidFill>
                            <a:srgbClr val="CC0000"/>
                          </a:solidFill>
                        </a:rPr>
                        <a:t>(-0.10)</a:t>
                      </a:r>
                      <a:endParaRPr sz="1200">
                        <a:solidFill>
                          <a:srgbClr val="CC0000"/>
                        </a:solidFill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FE2F3"/>
                    </a:solidFill>
                  </a:tcPr>
                </a:tc>
              </a:tr>
              <a:tr h="1968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   + Linearity Grafting</a:t>
                      </a:r>
                      <a:endParaRPr sz="1200"/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76.39 </a:t>
                      </a:r>
                      <a:r>
                        <a:rPr lang="en" sz="1200">
                          <a:solidFill>
                            <a:srgbClr val="38761D"/>
                          </a:solidFill>
                        </a:rPr>
                        <a:t>(+2.31)</a:t>
                      </a:r>
                      <a:endParaRPr sz="1200">
                        <a:solidFill>
                          <a:srgbClr val="38761D"/>
                        </a:solidFill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58.73 </a:t>
                      </a:r>
                      <a:r>
                        <a:rPr lang="en" sz="1200">
                          <a:solidFill>
                            <a:srgbClr val="CC0000"/>
                          </a:solidFill>
                        </a:rPr>
                        <a:t>(-0.03)</a:t>
                      </a:r>
                      <a:endParaRPr sz="1200">
                        <a:solidFill>
                          <a:srgbClr val="CC0000"/>
                        </a:solidFill>
                      </a:endParaRPr>
                    </a:p>
                  </a:txBody>
                  <a:tcPr marT="0" marB="0" marR="0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43.30 </a:t>
                      </a:r>
                      <a:r>
                        <a:rPr lang="en" sz="1200">
                          <a:solidFill>
                            <a:srgbClr val="CC0000"/>
                          </a:solidFill>
                        </a:rPr>
                        <a:t>(-7.10)</a:t>
                      </a:r>
                      <a:endParaRPr sz="1200">
                        <a:solidFill>
                          <a:srgbClr val="CC0000"/>
                        </a:solidFill>
                      </a:endParaRPr>
                    </a:p>
                  </a:txBody>
                  <a:tcPr marT="0" marB="0" marR="0" marL="91425" anchor="ctr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5: Concluding remarks</a:t>
            </a:r>
            <a:endParaRPr/>
          </a:p>
        </p:txBody>
      </p:sp>
      <p:sp>
        <p:nvSpPr>
          <p:cNvPr id="254" name="Google Shape;254;p39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60" name="Google Shape;260;p40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311700" y="1152475"/>
            <a:ext cx="8786700" cy="35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 [A] - Interval Bound Propagation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simple bounding technique for training large verifiable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results on MNIST, CIFAR10, SVHN, and downscaled-ImageNet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Positioned as a useful baseline for future works on certified defense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 [B] - Linearity Grafting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new relaxed neuron pruning paradigm for improved &amp; scalable certified robustness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Takeaways: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Grafting </a:t>
            </a:r>
            <a:r>
              <a:rPr lang="en"/>
              <a:t>insignificant</a:t>
            </a:r>
            <a:r>
              <a:rPr lang="en"/>
              <a:t>/unstable neurons reduces non-linearity &amp; tightens verification bounds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Parameters in grafted neurons help generalization </a:t>
            </a:r>
            <a:r>
              <a:rPr lang="en"/>
              <a:t>performance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Achieve competitive certified robustness without certified robust training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Scales up verification to large adversarially-trained models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 6: Discussion</a:t>
            </a:r>
            <a:endParaRPr/>
          </a:p>
        </p:txBody>
      </p:sp>
      <p:sp>
        <p:nvSpPr>
          <p:cNvPr id="267" name="Google Shape;267;p41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[A] - IBP)</a:t>
            </a:r>
            <a:endParaRPr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Empirical limitations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Compares only on small datasets (since it is an old paper)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Training needs tricks for stabilization (needs more hyperparameter tuning)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Conceptual limitations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derive closed form solutions for the bounds for every type of layer and activation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May become tedious (or impossible) when dealing with new layers or new architectures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this paper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(Paper [B] - Linearity Grafting)</a:t>
            </a:r>
            <a:endParaRPr/>
          </a:p>
        </p:txBody>
      </p:sp>
      <p:sp>
        <p:nvSpPr>
          <p:cNvPr id="279" name="Google Shape;27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Empirical limitations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Significant drop in standard accuracy and empirical robustness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Compute-heavy, requires 100 epochs of adv. training (apart from 200 epochs of initialization)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 aspects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theoretical bounds, empirically computed the bounds and claim tighter bounds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some possible future directions</a:t>
            </a:r>
            <a:endParaRPr/>
          </a:p>
        </p:txBody>
      </p:sp>
      <p:sp>
        <p:nvSpPr>
          <p:cNvPr id="285" name="Google Shape;285;p44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scale verification for practical sized models?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 SOTA verifiers</a:t>
            </a:r>
            <a:r>
              <a:rPr baseline="30000" lang="en"/>
              <a:t>[18]</a:t>
            </a:r>
            <a:r>
              <a:rPr lang="en"/>
              <a:t> fail for models like ResNet18 with too many unstable ReLU neurons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related direction is to develop verification-friendly architectures and activations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 verification bounds based on pruning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we improve certified robustness without training?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Improving over Paper [B] that requires training but gets rid of robustness objectives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92" name="Google Shape;29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Q1: Why do most robustness works focus on image classification?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 large gap between robust </a:t>
            </a:r>
            <a:r>
              <a:rPr lang="en"/>
              <a:t>accuracy</a:t>
            </a:r>
            <a:r>
              <a:rPr lang="en"/>
              <a:t> and standard accuracy </a:t>
            </a:r>
            <a:r>
              <a:rPr lang="en"/>
              <a:t>(~20% gap in </a:t>
            </a:r>
            <a:r>
              <a:rPr lang="en" u="sng">
                <a:solidFill>
                  <a:schemeClr val="hlink"/>
                </a:solidFill>
                <a:hlinkClick r:id="rId3"/>
              </a:rPr>
              <a:t>SOTA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Hence, the problem is not yet “solved” even for the simple image classification setting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there is interest in exploring robustness in other tasks (e.g. papers under topic-R9)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Adversarial Robustness with Non-uniform Perturbations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/>
              <a:t>(NeurIPS21)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 Adversarial Robustness of Trajectory Prediction for Autonomous Vehicles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/>
              <a:t>(CVPR22)</a:t>
            </a:r>
            <a:endParaRPr sz="1200"/>
          </a:p>
        </p:txBody>
      </p:sp>
      <p:sp>
        <p:nvSpPr>
          <p:cNvPr id="293" name="Google Shape;293;p45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4" name="Google Shape;294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05675" y="3068991"/>
            <a:ext cx="3705821" cy="1975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5680" y="2828200"/>
            <a:ext cx="3705820" cy="240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301" name="Google Shape;30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Q2: Can we compute the verified accuracy for any neural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Theoretically yes, but in practice, it is infeasible to compute the bounds for larger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Recent SOTA verification methods</a:t>
            </a:r>
            <a:r>
              <a:rPr baseline="30000" lang="en"/>
              <a:t>[18]</a:t>
            </a:r>
            <a:r>
              <a:rPr lang="en"/>
              <a:t> rely on reduced number of unstable ReLU neurons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fail to verify a model if there are too many unstable neurons</a:t>
            </a:r>
            <a:endParaRPr/>
          </a:p>
        </p:txBody>
      </p:sp>
      <p:sp>
        <p:nvSpPr>
          <p:cNvPr id="302" name="Google Shape;302;p46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3" name="Google Shape;3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600" y="2505776"/>
            <a:ext cx="6218775" cy="18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09" name="Google Shape;309;p47"/>
          <p:cNvSpPr txBox="1"/>
          <p:nvPr>
            <p:ph idx="1" type="body"/>
          </p:nvPr>
        </p:nvSpPr>
        <p:spPr>
          <a:xfrm>
            <a:off x="311700" y="1076275"/>
            <a:ext cx="8520600" cy="3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[1] Mirman, Geher, and Vechev, “Differentiable abstract interpretation for provably robust neural networks”, ICML18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[2] Dvijotham et al., “Training Verified Learners with Learned Verifiers”, arXiv:1805.10265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[3] Tjeng, Xiao, and Tedrake, “Evaluating Robustness of Neural Networks with Mixed Integer Programming”, ICLR19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[4] Dutta, Jha, Sankaranarayanan, and Tiwari, “Output Range Analysis for Deep Feedforward Neural Networks”, NFM18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[5] Bunel et al., “A Unified View of Piecewise Linear Neural Network Verification”, NeurIPS18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[6] Wang et al., “Formal Security Analysis of Neural Networks using Symbolic Intervals”, USENIX Security 2018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[7] Dvijotham et al., “A dual approach to scalable verification of deep networks”, UAI18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[8] Wong and Kolter, “Provable defenses against adversarial examples via the convex outer adversarial polytope”, ICML18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[9] Wang et al., “Efficient Formal Safety Analysis of Neural Networks”, NeurIPS18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[10] Zhang et al., “Efficient Neural Network Robustness Certification with General Activation Functions”, NeurIPS18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[11] Salman et al., “A Convex Relaxation Barrier to Tight Robustness Verification of Neural Networks”, NeurIPS19</a:t>
            </a:r>
            <a:endParaRPr sz="1100"/>
          </a:p>
        </p:txBody>
      </p:sp>
      <p:sp>
        <p:nvSpPr>
          <p:cNvPr id="310" name="Google Shape;310;p47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16" name="Google Shape;316;p48"/>
          <p:cNvSpPr txBox="1"/>
          <p:nvPr>
            <p:ph idx="1" type="body"/>
          </p:nvPr>
        </p:nvSpPr>
        <p:spPr>
          <a:xfrm>
            <a:off x="311700" y="1076275"/>
            <a:ext cx="8647500" cy="3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[12] Raghunathan, Steinhardt, and Liang, “Semidefinite relaxations for certifying robustness to adversarial examples”, NeurIPS18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[13] Dathathri et al., “Enabling certification of verification-agnostic networks via memory-efficient semidefinite programming”, NeurIPS20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[14] Han et al., “Deep Compression: Compressing Deep NNs with Pruning, Trained Quantization and Huffman Coding”, ICLR16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[15] Liu et al., “Learning efficient convolutional networks through network slimming”, ICCV17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[16] Sehwag et al., “HYDRA: Pruning Adversarially Robust Neural Networks”, NeurIPS20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[17] Dhillon et al., “Stochastic Activation Pruning for Robust Adversarial Defense”, ICLR18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[18] Zhang et al., “A Branch and Bound Framework for Stronger Adversarial Attacks of ReLU Networks”, ICML22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[19] Wong, Rice, and Kolter, “Fast is better than free: Revisiting adversarial training”, ICLR20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[20] Wong, Schmidt, Metzen, and Kolter, “Scaling provable adversarial defenses”, NeurIPS18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[21] Xiao et al., “Training for Faster Adversarial Robustness Verification via Inducing ReLU Stability”, ICLR19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[22] Ye et al., “Accelerating CNN Training by Pruning Activation Gradients”, ECCV20</a:t>
            </a:r>
            <a:endParaRPr sz="1100"/>
          </a:p>
        </p:txBody>
      </p:sp>
      <p:sp>
        <p:nvSpPr>
          <p:cNvPr id="317" name="Google Shape;317;p48"/>
          <p:cNvSpPr txBox="1"/>
          <p:nvPr>
            <p:ph idx="12" type="sldNum"/>
          </p:nvPr>
        </p:nvSpPr>
        <p:spPr>
          <a:xfrm>
            <a:off x="8607808" y="266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